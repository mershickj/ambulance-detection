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8" r:id="rId5"/>
    <p:sldId id="259" r:id="rId6"/>
    <p:sldId id="260" r:id="rId7"/>
    <p:sldId id="261"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6" d="100"/>
          <a:sy n="76" d="100"/>
        </p:scale>
        <p:origin x="922" y="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latin typeface="Times New Roman" panose="02020603050405020304" pitchFamily="18" charset="0"/>
                <a:cs typeface="Times New Roman" panose="02020603050405020304" pitchFamily="18" charset="0"/>
              </a:rPr>
              <a:t>Computer Vision Based Ambulance Detection System</a:t>
            </a:r>
          </a:p>
        </p:txBody>
      </p:sp>
      <p:sp>
        <p:nvSpPr>
          <p:cNvPr id="3" name="Content Placeholder 2"/>
          <p:cNvSpPr>
            <a:spLocks noGrp="1"/>
          </p:cNvSpPr>
          <p:nvPr>
            <p:ph idx="1"/>
          </p:nvPr>
        </p:nvSpPr>
        <p:spPr/>
        <p:txBody>
          <a:bodyPr/>
          <a:lstStyle/>
          <a:p>
            <a:pPr>
              <a:defRPr sz="2000">
                <a:solidFill>
                  <a:srgbClr val="FFFFFF"/>
                </a:solidFill>
              </a:defRPr>
            </a:pP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Real-time ambulance detection using YOLO deep learning model.</a:t>
            </a:r>
          </a:p>
          <a:p>
            <a:pPr marL="457200" lvl="1" indent="0">
              <a:buNone/>
              <a:defRPr sz="2000">
                <a:solidFill>
                  <a:srgbClr val="FFFFFF"/>
                </a:solidFill>
              </a:defRPr>
            </a:pPr>
            <a:r>
              <a:rPr dirty="0">
                <a:latin typeface="Times New Roman" panose="02020603050405020304" pitchFamily="18" charset="0"/>
                <a:cs typeface="Times New Roman" panose="02020603050405020304" pitchFamily="18" charset="0"/>
              </a:rPr>
              <a:t>• Automatic emergency SMS alert using Twilio Cloud API.</a:t>
            </a:r>
          </a:p>
          <a:p>
            <a:pPr marL="457200" lvl="1" indent="0">
              <a:buNone/>
              <a:defRPr sz="2000">
                <a:solidFill>
                  <a:srgbClr val="FFFFFF"/>
                </a:solidFill>
              </a:defRPr>
            </a:pPr>
            <a:r>
              <a:rPr dirty="0">
                <a:latin typeface="Times New Roman" panose="02020603050405020304" pitchFamily="18" charset="0"/>
                <a:cs typeface="Times New Roman" panose="02020603050405020304" pitchFamily="18" charset="0"/>
              </a:rPr>
              <a:t>• Designed for intelligent traffic monitoring systems.</a:t>
            </a:r>
          </a:p>
          <a:p>
            <a:pPr marL="457200" lvl="1" indent="0">
              <a:buNone/>
              <a:defRPr sz="2000">
                <a:solidFill>
                  <a:srgbClr val="FFFFFF"/>
                </a:solidFill>
              </a:defRPr>
            </a:pPr>
            <a:r>
              <a:rPr dirty="0">
                <a:latin typeface="Times New Roman" panose="02020603050405020304" pitchFamily="18" charset="0"/>
                <a:cs typeface="Times New Roman" panose="02020603050405020304" pitchFamily="18" charset="0"/>
              </a:rPr>
              <a:t>• Built using custom trained dataset.</a:t>
            </a:r>
            <a:endParaRPr lang="en-IN" dirty="0">
              <a:latin typeface="Times New Roman" panose="02020603050405020304" pitchFamily="18" charset="0"/>
              <a:cs typeface="Times New Roman" panose="02020603050405020304" pitchFamily="18" charset="0"/>
            </a:endParaRPr>
          </a:p>
          <a:p>
            <a:pPr lvl="1">
              <a:defRPr sz="2000">
                <a:solidFill>
                  <a:srgbClr val="FFFFFF"/>
                </a:solidFill>
              </a:defRPr>
            </a:pPr>
            <a:endParaRPr lang="en-IN" dirty="0">
              <a:latin typeface="Times New Roman" panose="02020603050405020304" pitchFamily="18" charset="0"/>
              <a:cs typeface="Times New Roman" panose="02020603050405020304" pitchFamily="18" charset="0"/>
            </a:endParaRPr>
          </a:p>
          <a:p>
            <a:pPr lvl="1">
              <a:defRPr sz="2000">
                <a:solidFill>
                  <a:srgbClr val="FFFFFF"/>
                </a:solidFill>
              </a:defRPr>
            </a:pPr>
            <a:endParaRPr lang="en-IN" dirty="0">
              <a:latin typeface="Times New Roman" panose="02020603050405020304" pitchFamily="18" charset="0"/>
              <a:cs typeface="Times New Roman" panose="02020603050405020304" pitchFamily="18" charset="0"/>
            </a:endParaRPr>
          </a:p>
          <a:p>
            <a:pPr lvl="1">
              <a:defRPr sz="2000">
                <a:solidFill>
                  <a:srgbClr val="FFFFFF"/>
                </a:solidFill>
              </a:defRPr>
            </a:pPr>
            <a:endParaRPr lang="en-IN" dirty="0">
              <a:latin typeface="Times New Roman" panose="02020603050405020304" pitchFamily="18" charset="0"/>
              <a:cs typeface="Times New Roman" panose="02020603050405020304" pitchFamily="18" charset="0"/>
            </a:endParaRPr>
          </a:p>
          <a:p>
            <a:pPr lvl="1">
              <a:defRPr sz="2000">
                <a:solidFill>
                  <a:srgbClr val="FFFFFF"/>
                </a:solidFill>
              </a:defRPr>
            </a:pPr>
            <a:endParaRPr lang="en-IN" dirty="0">
              <a:latin typeface="Times New Roman" panose="02020603050405020304" pitchFamily="18" charset="0"/>
              <a:cs typeface="Times New Roman" panose="02020603050405020304" pitchFamily="18" charset="0"/>
            </a:endParaRPr>
          </a:p>
          <a:p>
            <a:pPr marL="457200" lvl="1" indent="0">
              <a:buNone/>
              <a:defRPr sz="2000">
                <a:solidFill>
                  <a:srgbClr val="FFFFFF"/>
                </a:solidFill>
              </a:defRPr>
            </a:pPr>
            <a:r>
              <a:rPr lang="en-IN" dirty="0">
                <a:latin typeface="Times New Roman" panose="02020603050405020304" pitchFamily="18" charset="0"/>
                <a:cs typeface="Times New Roman" panose="02020603050405020304" pitchFamily="18" charset="0"/>
              </a:rPr>
              <a:t>                                                                                    URK23CS5056</a:t>
            </a:r>
          </a:p>
          <a:p>
            <a:pPr marL="457200" lvl="1" indent="0">
              <a:buNone/>
              <a:defRPr sz="2000">
                <a:solidFill>
                  <a:srgbClr val="FFFFFF"/>
                </a:solidFill>
              </a:defRPr>
            </a:pPr>
            <a:r>
              <a:rPr lang="en-IN" dirty="0">
                <a:latin typeface="Times New Roman" panose="02020603050405020304" pitchFamily="18" charset="0"/>
                <a:cs typeface="Times New Roman" panose="02020603050405020304" pitchFamily="18" charset="0"/>
              </a:rPr>
              <a:t>                                                                                     MERSHICK J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ACEF-D289-2409-AB8F-C6DBFBDAE13B}"/>
              </a:ext>
            </a:extLst>
          </p:cNvPr>
          <p:cNvSpPr>
            <a:spLocks noGrp="1"/>
          </p:cNvSpPr>
          <p:nvPr>
            <p:ph type="title"/>
          </p:nvPr>
        </p:nvSpPr>
        <p:spPr/>
        <p:txBody>
          <a:bodyPr>
            <a:normAutofit/>
          </a:bodyPr>
          <a:lstStyle/>
          <a:p>
            <a:r>
              <a:rPr lang="en-US" sz="3600" dirty="0">
                <a:solidFill>
                  <a:schemeClr val="bg1"/>
                </a:solidFill>
                <a:latin typeface="Times New Roman" panose="02020603050405020304" pitchFamily="18" charset="0"/>
                <a:cs typeface="Times New Roman" panose="02020603050405020304" pitchFamily="18" charset="0"/>
              </a:rPr>
              <a:t>Identification of Project Title and Domain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6C45B3-74D2-FADE-33D7-7CC59D0FFC27}"/>
              </a:ext>
            </a:extLst>
          </p:cNvPr>
          <p:cNvSpPr>
            <a:spLocks noGrp="1"/>
          </p:cNvSpPr>
          <p:nvPr>
            <p:ph idx="1"/>
          </p:nvPr>
        </p:nvSpPr>
        <p:spPr/>
        <p:txBody>
          <a:bodyPr/>
          <a:lstStyle/>
          <a:p>
            <a:pPr>
              <a:defRPr sz="2200">
                <a:solidFill>
                  <a:srgbClr val="FFFFFF"/>
                </a:solidFill>
              </a:defRPr>
            </a:pPr>
            <a:r>
              <a:rPr lang="en-IN" dirty="0">
                <a:latin typeface="Times New Roman" panose="02020603050405020304" pitchFamily="18" charset="0"/>
                <a:cs typeface="Times New Roman" panose="02020603050405020304" pitchFamily="18" charset="0"/>
              </a:rPr>
              <a:t>Project Title:</a:t>
            </a:r>
          </a:p>
          <a:p>
            <a:pPr lvl="1">
              <a:defRPr sz="2200">
                <a:solidFill>
                  <a:srgbClr val="FFFFFF"/>
                </a:solidFill>
              </a:defRPr>
            </a:pPr>
            <a:r>
              <a:rPr lang="en-IN" dirty="0">
                <a:latin typeface="Times New Roman" panose="02020603050405020304" pitchFamily="18" charset="0"/>
                <a:cs typeface="Times New Roman" panose="02020603050405020304" pitchFamily="18" charset="0"/>
              </a:rPr>
              <a:t>Computer Vision Based Ambulance Detection and Emergency SMS Alert System</a:t>
            </a:r>
          </a:p>
          <a:p>
            <a:pPr lvl="1">
              <a:defRPr sz="2200">
                <a:solidFill>
                  <a:srgbClr val="FFFFFF"/>
                </a:solidFill>
              </a:defRPr>
            </a:pPr>
            <a:endParaRPr lang="en-IN" dirty="0">
              <a:latin typeface="Times New Roman" panose="02020603050405020304" pitchFamily="18" charset="0"/>
              <a:cs typeface="Times New Roman" panose="02020603050405020304" pitchFamily="18" charset="0"/>
            </a:endParaRPr>
          </a:p>
          <a:p>
            <a:pPr lvl="1">
              <a:defRPr sz="2200">
                <a:solidFill>
                  <a:srgbClr val="FFFFFF"/>
                </a:solidFill>
              </a:defRPr>
            </a:pPr>
            <a:r>
              <a:rPr lang="en-IN" dirty="0">
                <a:latin typeface="Times New Roman" panose="02020603050405020304" pitchFamily="18" charset="0"/>
                <a:cs typeface="Times New Roman" panose="02020603050405020304" pitchFamily="18" charset="0"/>
              </a:rPr>
              <a:t>Domain: Computer Vision &amp; Artificial Intelligence</a:t>
            </a:r>
          </a:p>
          <a:p>
            <a:pPr lvl="1">
              <a:defRPr sz="2200">
                <a:solidFill>
                  <a:srgbClr val="FFFFFF"/>
                </a:solidFill>
              </a:defRPr>
            </a:pPr>
            <a:r>
              <a:rPr lang="en-IN" dirty="0">
                <a:latin typeface="Times New Roman" panose="02020603050405020304" pitchFamily="18" charset="0"/>
                <a:cs typeface="Times New Roman" panose="02020603050405020304" pitchFamily="18" charset="0"/>
              </a:rPr>
              <a:t>Sub-Domain: Deep Learning / Real-Time Video Analytics</a:t>
            </a:r>
          </a:p>
          <a:p>
            <a:pPr lvl="1">
              <a:defRPr sz="2200">
                <a:solidFill>
                  <a:srgbClr val="FFFFFF"/>
                </a:solidFill>
              </a:defRPr>
            </a:pPr>
            <a:r>
              <a:rPr lang="en-IN" dirty="0">
                <a:latin typeface="Times New Roman" panose="02020603050405020304" pitchFamily="18" charset="0"/>
                <a:cs typeface="Times New Roman" panose="02020603050405020304" pitchFamily="18" charset="0"/>
              </a:rPr>
              <a:t>Application Area: Smart Traffic Management &amp; Emergency Response</a:t>
            </a:r>
          </a:p>
          <a:p>
            <a:pPr lvl="1">
              <a:defRPr sz="2200">
                <a:solidFill>
                  <a:srgbClr val="FFFFFF"/>
                </a:solidFill>
              </a:defRPr>
            </a:pPr>
            <a:endParaRPr lang="en-IN" dirty="0">
              <a:latin typeface="Times New Roman" panose="02020603050405020304" pitchFamily="18" charset="0"/>
              <a:cs typeface="Times New Roman" panose="02020603050405020304" pitchFamily="18" charset="0"/>
            </a:endParaRPr>
          </a:p>
          <a:p>
            <a:pPr lvl="1">
              <a:defRPr sz="2200">
                <a:solidFill>
                  <a:srgbClr val="FFFFFF"/>
                </a:solidFill>
              </a:defRPr>
            </a:pPr>
            <a:r>
              <a:rPr lang="en-IN" dirty="0">
                <a:latin typeface="Times New Roman" panose="02020603050405020304" pitchFamily="18" charset="0"/>
                <a:cs typeface="Times New Roman" panose="02020603050405020304" pitchFamily="18" charset="0"/>
              </a:rPr>
              <a:t>Technology Stack:</a:t>
            </a:r>
          </a:p>
          <a:p>
            <a:pPr lvl="1">
              <a:defRPr sz="2200">
                <a:solidFill>
                  <a:srgbClr val="FFFFFF"/>
                </a:solidFill>
              </a:defRPr>
            </a:pPr>
            <a:r>
              <a:rPr lang="en-IN" dirty="0">
                <a:latin typeface="Times New Roman" panose="02020603050405020304" pitchFamily="18" charset="0"/>
                <a:cs typeface="Times New Roman" panose="02020603050405020304" pitchFamily="18" charset="0"/>
              </a:rPr>
              <a:t>Python, YOLO, OpenCV, Twilio Cloud API</a:t>
            </a:r>
          </a:p>
          <a:p>
            <a:endParaRPr lang="en-IN" dirty="0"/>
          </a:p>
        </p:txBody>
      </p:sp>
    </p:spTree>
    <p:extLst>
      <p:ext uri="{BB962C8B-B14F-4D97-AF65-F5344CB8AC3E}">
        <p14:creationId xmlns:p14="http://schemas.microsoft.com/office/powerpoint/2010/main" val="40010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rmAutofit lnSpcReduction="10000"/>
          </a:bodyPr>
          <a:lstStyle/>
          <a:p>
            <a:pPr>
              <a:defRPr sz="2000">
                <a:solidFill>
                  <a:srgbClr val="FFFFFF"/>
                </a:solidFill>
              </a:defRPr>
            </a:pPr>
            <a:r>
              <a:rPr lang="en-US" sz="2000" dirty="0">
                <a:latin typeface="Times New Roman" panose="02020603050405020304" pitchFamily="18" charset="0"/>
                <a:cs typeface="Times New Roman" panose="02020603050405020304" pitchFamily="18" charset="0"/>
              </a:rPr>
              <a:t>In rapidly growing urban areas, traffic congestion has become a major challenge, significantly affecting emergency response systems. Ambulances transporting critical patients often experience delays due to heavy traffic and lack of priority management. Current traffic monitoring systems primarily rely on manual CCTV observation, which does not provide automatic identification of emergency vehicles. The absence of intelligent detection and alert mechanisms results in delayed coordination between traffic authorities and emergency services. </a:t>
            </a:r>
          </a:p>
          <a:p>
            <a:pPr>
              <a:defRPr sz="2000">
                <a:solidFill>
                  <a:srgbClr val="FFFFFF"/>
                </a:solidFill>
              </a:defRPr>
            </a:pPr>
            <a:endParaRPr lang="en-US" sz="2000" dirty="0">
              <a:latin typeface="Times New Roman" panose="02020603050405020304" pitchFamily="18" charset="0"/>
              <a:cs typeface="Times New Roman" panose="02020603050405020304" pitchFamily="18" charset="0"/>
            </a:endParaRPr>
          </a:p>
          <a:p>
            <a:pPr>
              <a:defRPr sz="2000">
                <a:solidFill>
                  <a:srgbClr val="FFFFFF"/>
                </a:solidFill>
              </a:defRPr>
            </a:pPr>
            <a:r>
              <a:rPr lang="en-US" sz="2000" dirty="0">
                <a:latin typeface="Times New Roman" panose="02020603050405020304" pitchFamily="18" charset="0"/>
                <a:cs typeface="Times New Roman" panose="02020603050405020304" pitchFamily="18" charset="0"/>
              </a:rPr>
              <a:t>Traditional traffic systems lack automated emergency vehicle recognition and notification mechanisms.</a:t>
            </a:r>
          </a:p>
          <a:p>
            <a:pPr>
              <a:defRPr sz="2000">
                <a:solidFill>
                  <a:srgbClr val="FFFFFF"/>
                </a:solidFill>
              </a:defRPr>
            </a:pPr>
            <a:endParaRPr lang="en-US" sz="2000" dirty="0">
              <a:latin typeface="Times New Roman" panose="02020603050405020304" pitchFamily="18" charset="0"/>
              <a:cs typeface="Times New Roman" panose="02020603050405020304" pitchFamily="18" charset="0"/>
            </a:endParaRPr>
          </a:p>
          <a:p>
            <a:pPr>
              <a:defRPr sz="2000">
                <a:solidFill>
                  <a:srgbClr val="FFFFFF"/>
                </a:solidFill>
              </a:defRPr>
            </a:pPr>
            <a:r>
              <a:rPr lang="en-US" sz="2000" dirty="0">
                <a:latin typeface="Times New Roman" panose="02020603050405020304" pitchFamily="18" charset="0"/>
                <a:cs typeface="Times New Roman" panose="02020603050405020304" pitchFamily="18" charset="0"/>
              </a:rPr>
              <a:t>Delays in ambulance movement can increase risk to patients, making intelligent detection systems essential.</a:t>
            </a:r>
          </a:p>
          <a:p>
            <a:pPr>
              <a:defRPr sz="2000">
                <a:solidFill>
                  <a:srgbClr val="FFFFFF"/>
                </a:solidFill>
              </a:defRPr>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t>Objectives</a:t>
            </a:r>
          </a:p>
        </p:txBody>
      </p:sp>
      <p:sp>
        <p:nvSpPr>
          <p:cNvPr id="3" name="Content Placeholder 2"/>
          <p:cNvSpPr>
            <a:spLocks noGrp="1"/>
          </p:cNvSpPr>
          <p:nvPr>
            <p:ph idx="1"/>
          </p:nvPr>
        </p:nvSpPr>
        <p:spPr/>
        <p:txBody>
          <a:bodyPr/>
          <a:lstStyle/>
          <a:p>
            <a:pPr>
              <a:defRPr sz="2000">
                <a:solidFill>
                  <a:srgbClr val="FFFFFF"/>
                </a:solidFill>
              </a:defRPr>
            </a:pPr>
            <a:r>
              <a:rPr dirty="0">
                <a:latin typeface="Times New Roman" panose="02020603050405020304" pitchFamily="18" charset="0"/>
                <a:cs typeface="Times New Roman" panose="02020603050405020304" pitchFamily="18" charset="0"/>
              </a:rPr>
              <a:t>• Detect ambulance in real-time video stream.</a:t>
            </a:r>
          </a:p>
          <a:p>
            <a:pPr lvl="1">
              <a:defRPr sz="2000">
                <a:solidFill>
                  <a:srgbClr val="FFFFFF"/>
                </a:solidFill>
              </a:defRPr>
            </a:pPr>
            <a:r>
              <a:rPr dirty="0">
                <a:latin typeface="Times New Roman" panose="02020603050405020304" pitchFamily="18" charset="0"/>
                <a:cs typeface="Times New Roman" panose="02020603050405020304" pitchFamily="18" charset="0"/>
              </a:rPr>
              <a:t>• Use YOLO object detection model.</a:t>
            </a:r>
          </a:p>
          <a:p>
            <a:pPr lvl="1">
              <a:defRPr sz="2000">
                <a:solidFill>
                  <a:srgbClr val="FFFFFF"/>
                </a:solidFill>
              </a:defRPr>
            </a:pPr>
            <a:r>
              <a:rPr dirty="0">
                <a:latin typeface="Times New Roman" panose="02020603050405020304" pitchFamily="18" charset="0"/>
                <a:cs typeface="Times New Roman" panose="02020603050405020304" pitchFamily="18" charset="0"/>
              </a:rPr>
              <a:t>• Trigger SMS alert instantly upon detection.</a:t>
            </a:r>
          </a:p>
          <a:p>
            <a:pPr lvl="1">
              <a:defRPr sz="2000">
                <a:solidFill>
                  <a:srgbClr val="FFFFFF"/>
                </a:solidFill>
              </a:defRPr>
            </a:pPr>
            <a:r>
              <a:rPr dirty="0">
                <a:latin typeface="Times New Roman" panose="02020603050405020304" pitchFamily="18" charset="0"/>
                <a:cs typeface="Times New Roman" panose="02020603050405020304" pitchFamily="18" charset="0"/>
              </a:rPr>
              <a:t>• Reduce emergency response time.</a:t>
            </a:r>
          </a:p>
          <a:p>
            <a:pPr lvl="1">
              <a:defRPr sz="2000">
                <a:solidFill>
                  <a:srgbClr val="FFFFFF"/>
                </a:solidFill>
              </a:defRPr>
            </a:pPr>
            <a:r>
              <a:rPr dirty="0">
                <a:latin typeface="Times New Roman" panose="02020603050405020304" pitchFamily="18" charset="0"/>
                <a:cs typeface="Times New Roman" panose="02020603050405020304" pitchFamily="18" charset="0"/>
              </a:rPr>
              <a:t>• Demonstrate practical application of Computer Vision.</a:t>
            </a:r>
          </a:p>
        </p:txBody>
      </p:sp>
      <p:pic>
        <p:nvPicPr>
          <p:cNvPr id="4" name="Picture 3">
            <a:extLst>
              <a:ext uri="{FF2B5EF4-FFF2-40B4-BE49-F238E27FC236}">
                <a16:creationId xmlns:a16="http://schemas.microsoft.com/office/drawing/2014/main" id="{B91B19EA-7E55-4E5E-72E1-B57DC909CDF0}"/>
              </a:ext>
            </a:extLst>
          </p:cNvPr>
          <p:cNvPicPr>
            <a:picLocks noChangeAspect="1"/>
          </p:cNvPicPr>
          <p:nvPr/>
        </p:nvPicPr>
        <p:blipFill>
          <a:blip r:embed="rId2"/>
          <a:stretch>
            <a:fillRect/>
          </a:stretch>
        </p:blipFill>
        <p:spPr>
          <a:xfrm>
            <a:off x="1577592" y="3641788"/>
            <a:ext cx="5325626" cy="27690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latin typeface="Times New Roman" panose="02020603050405020304" pitchFamily="18" charset="0"/>
                <a:cs typeface="Times New Roman" panose="02020603050405020304" pitchFamily="18" charset="0"/>
              </a:rPr>
              <a:t>Technologies Used</a:t>
            </a:r>
          </a:p>
        </p:txBody>
      </p:sp>
      <p:sp>
        <p:nvSpPr>
          <p:cNvPr id="3" name="Content Placeholder 2"/>
          <p:cNvSpPr>
            <a:spLocks noGrp="1"/>
          </p:cNvSpPr>
          <p:nvPr>
            <p:ph idx="1"/>
          </p:nvPr>
        </p:nvSpPr>
        <p:spPr/>
        <p:txBody>
          <a:bodyPr/>
          <a:lstStyle/>
          <a:p>
            <a:pPr>
              <a:defRPr sz="2000">
                <a:solidFill>
                  <a:srgbClr val="FFFFFF"/>
                </a:solidFill>
              </a:defRPr>
            </a:pPr>
            <a:r>
              <a:rPr dirty="0">
                <a:latin typeface="Times New Roman "/>
              </a:rPr>
              <a:t>• Python Programming Language</a:t>
            </a:r>
          </a:p>
          <a:p>
            <a:pPr lvl="1">
              <a:defRPr sz="2000">
                <a:solidFill>
                  <a:srgbClr val="FFFFFF"/>
                </a:solidFill>
              </a:defRPr>
            </a:pPr>
            <a:r>
              <a:rPr dirty="0">
                <a:latin typeface="Times New Roman "/>
              </a:rPr>
              <a:t>• YOLO Deep Learning Model</a:t>
            </a:r>
          </a:p>
          <a:p>
            <a:pPr lvl="1">
              <a:defRPr sz="2000">
                <a:solidFill>
                  <a:srgbClr val="FFFFFF"/>
                </a:solidFill>
              </a:defRPr>
            </a:pPr>
            <a:r>
              <a:rPr dirty="0">
                <a:latin typeface="Times New Roman "/>
              </a:rPr>
              <a:t>• OpenCV for video processing</a:t>
            </a:r>
          </a:p>
          <a:p>
            <a:pPr lvl="1">
              <a:defRPr sz="2000">
                <a:solidFill>
                  <a:srgbClr val="FFFFFF"/>
                </a:solidFill>
              </a:defRPr>
            </a:pPr>
            <a:r>
              <a:rPr dirty="0">
                <a:latin typeface="Times New Roman "/>
              </a:rPr>
              <a:t>• Custom annotated ambulance dataset</a:t>
            </a:r>
          </a:p>
          <a:p>
            <a:pPr lvl="1">
              <a:defRPr sz="2000">
                <a:solidFill>
                  <a:srgbClr val="FFFFFF"/>
                </a:solidFill>
              </a:defRPr>
            </a:pPr>
            <a:r>
              <a:rPr dirty="0">
                <a:latin typeface="Times New Roman "/>
              </a:rPr>
              <a:t>• Twilio Cloud API for SMS alerts</a:t>
            </a:r>
          </a:p>
        </p:txBody>
      </p:sp>
      <p:pic>
        <p:nvPicPr>
          <p:cNvPr id="4" name="Picture 3">
            <a:extLst>
              <a:ext uri="{FF2B5EF4-FFF2-40B4-BE49-F238E27FC236}">
                <a16:creationId xmlns:a16="http://schemas.microsoft.com/office/drawing/2014/main" id="{D1F1ADC7-B444-8327-E000-4B01C24AC109}"/>
              </a:ext>
            </a:extLst>
          </p:cNvPr>
          <p:cNvPicPr>
            <a:picLocks noChangeAspect="1"/>
          </p:cNvPicPr>
          <p:nvPr/>
        </p:nvPicPr>
        <p:blipFill>
          <a:blip r:embed="rId2"/>
          <a:stretch>
            <a:fillRect/>
          </a:stretch>
        </p:blipFill>
        <p:spPr>
          <a:xfrm>
            <a:off x="457200" y="3766709"/>
            <a:ext cx="8135332" cy="1796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latin typeface="Times New Roman" panose="02020603050405020304" pitchFamily="18" charset="0"/>
                <a:cs typeface="Times New Roman" panose="02020603050405020304" pitchFamily="18" charset="0"/>
              </a:rPr>
              <a:t>Custom Trained Dataset</a:t>
            </a:r>
          </a:p>
        </p:txBody>
      </p:sp>
      <p:sp>
        <p:nvSpPr>
          <p:cNvPr id="3" name="Content Placeholder 2"/>
          <p:cNvSpPr>
            <a:spLocks noGrp="1"/>
          </p:cNvSpPr>
          <p:nvPr>
            <p:ph idx="1"/>
          </p:nvPr>
        </p:nvSpPr>
        <p:spPr/>
        <p:txBody>
          <a:bodyPr/>
          <a:lstStyle/>
          <a:p>
            <a:pPr>
              <a:defRPr sz="2000">
                <a:solidFill>
                  <a:srgbClr val="FFFFFF"/>
                </a:solidFill>
              </a:defRPr>
            </a:pPr>
            <a:r>
              <a:rPr dirty="0"/>
              <a:t>• </a:t>
            </a:r>
            <a:r>
              <a:rPr dirty="0">
                <a:latin typeface="Times New Roman" panose="02020603050405020304" pitchFamily="18" charset="0"/>
                <a:cs typeface="Times New Roman" panose="02020603050405020304" pitchFamily="18" charset="0"/>
              </a:rPr>
              <a:t>Dataset created and annotated manually.</a:t>
            </a:r>
          </a:p>
          <a:p>
            <a:pPr lvl="1">
              <a:defRPr sz="2000">
                <a:solidFill>
                  <a:srgbClr val="FFFFFF"/>
                </a:solidFill>
              </a:defRPr>
            </a:pPr>
            <a:r>
              <a:rPr dirty="0">
                <a:latin typeface="Times New Roman" panose="02020603050405020304" pitchFamily="18" charset="0"/>
                <a:cs typeface="Times New Roman" panose="02020603050405020304" pitchFamily="18" charset="0"/>
              </a:rPr>
              <a:t>• Bounding boxes drawn around ambulance class.</a:t>
            </a:r>
          </a:p>
          <a:p>
            <a:pPr lvl="1">
              <a:defRPr sz="2000">
                <a:solidFill>
                  <a:srgbClr val="FFFFFF"/>
                </a:solidFill>
              </a:defRPr>
            </a:pPr>
            <a:r>
              <a:rPr dirty="0">
                <a:latin typeface="Times New Roman" panose="02020603050405020304" pitchFamily="18" charset="0"/>
                <a:cs typeface="Times New Roman" panose="02020603050405020304" pitchFamily="18" charset="0"/>
              </a:rPr>
              <a:t>• Data augmentation applied (flip, brightness, resize).</a:t>
            </a:r>
          </a:p>
          <a:p>
            <a:pPr lvl="1">
              <a:defRPr sz="2000">
                <a:solidFill>
                  <a:srgbClr val="FFFFFF"/>
                </a:solidFill>
              </a:defRPr>
            </a:pPr>
            <a:r>
              <a:rPr dirty="0">
                <a:latin typeface="Times New Roman" panose="02020603050405020304" pitchFamily="18" charset="0"/>
                <a:cs typeface="Times New Roman" panose="02020603050405020304" pitchFamily="18" charset="0"/>
              </a:rPr>
              <a:t>• Train/Validation/Test split performed before training.</a:t>
            </a:r>
          </a:p>
          <a:p>
            <a:pPr lvl="1">
              <a:defRPr sz="2000">
                <a:solidFill>
                  <a:srgbClr val="FFFFFF"/>
                </a:solidFill>
              </a:defRPr>
            </a:pPr>
            <a:r>
              <a:rPr dirty="0">
                <a:latin typeface="Times New Roman" panose="02020603050405020304" pitchFamily="18" charset="0"/>
                <a:cs typeface="Times New Roman" panose="02020603050405020304" pitchFamily="18" charset="0"/>
              </a:rPr>
              <a:t>• Model trained using YOLO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000">
                <a:solidFill>
                  <a:srgbClr val="FFFFFF"/>
                </a:solidFill>
              </a:defRPr>
            </a:pPr>
            <a:r>
              <a:rPr lang="en-IN" dirty="0">
                <a:solidFill>
                  <a:schemeClr val="bg1"/>
                </a:solidFill>
                <a:latin typeface="Times New Roman"/>
              </a:rPr>
              <a:t>Literature Survey / Background Study</a:t>
            </a:r>
            <a:endParaRPr dirty="0"/>
          </a:p>
        </p:txBody>
      </p:sp>
      <p:pic>
        <p:nvPicPr>
          <p:cNvPr id="6" name="Picture 5">
            <a:extLst>
              <a:ext uri="{FF2B5EF4-FFF2-40B4-BE49-F238E27FC236}">
                <a16:creationId xmlns:a16="http://schemas.microsoft.com/office/drawing/2014/main" id="{DA2A3C94-3EEB-03D1-D859-E0D6DAD35F60}"/>
              </a:ext>
            </a:extLst>
          </p:cNvPr>
          <p:cNvPicPr>
            <a:picLocks noChangeAspect="1"/>
          </p:cNvPicPr>
          <p:nvPr/>
        </p:nvPicPr>
        <p:blipFill>
          <a:blip r:embed="rId2"/>
          <a:stretch>
            <a:fillRect/>
          </a:stretch>
        </p:blipFill>
        <p:spPr>
          <a:xfrm>
            <a:off x="749431" y="1356557"/>
            <a:ext cx="7734693" cy="5164506"/>
          </a:xfrm>
          <a:prstGeom prst="rect">
            <a:avLst/>
          </a:prstGeom>
        </p:spPr>
      </p:pic>
      <p:pic>
        <p:nvPicPr>
          <p:cNvPr id="4" name="Picture 3">
            <a:extLst>
              <a:ext uri="{FF2B5EF4-FFF2-40B4-BE49-F238E27FC236}">
                <a16:creationId xmlns:a16="http://schemas.microsoft.com/office/drawing/2014/main" id="{F3D782FB-3DC0-C684-7907-5D5FCCF2B4C3}"/>
              </a:ext>
            </a:extLst>
          </p:cNvPr>
          <p:cNvPicPr>
            <a:picLocks noChangeAspect="1"/>
          </p:cNvPicPr>
          <p:nvPr/>
        </p:nvPicPr>
        <p:blipFill>
          <a:blip r:embed="rId3"/>
          <a:stretch>
            <a:fillRect/>
          </a:stretch>
        </p:blipFill>
        <p:spPr>
          <a:xfrm>
            <a:off x="962237" y="1616513"/>
            <a:ext cx="6697010" cy="228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000">
                <a:solidFill>
                  <a:srgbClr val="FFFFFF"/>
                </a:solidFill>
              </a:defRPr>
            </a:pPr>
            <a:r>
              <a:t>System Architecture</a:t>
            </a:r>
          </a:p>
        </p:txBody>
      </p:sp>
      <p:sp>
        <p:nvSpPr>
          <p:cNvPr id="3" name="Rounded Rectangle 2"/>
          <p:cNvSpPr/>
          <p:nvPr/>
        </p:nvSpPr>
        <p:spPr>
          <a:xfrm>
            <a:off x="2833698" y="1502556"/>
            <a:ext cx="2680982"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Video Input</a:t>
            </a:r>
          </a:p>
        </p:txBody>
      </p:sp>
      <p:sp>
        <p:nvSpPr>
          <p:cNvPr id="4" name="Rounded Rectangle 3"/>
          <p:cNvSpPr/>
          <p:nvPr/>
        </p:nvSpPr>
        <p:spPr>
          <a:xfrm>
            <a:off x="2833697" y="2501402"/>
            <a:ext cx="2680983"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YOLO Detection</a:t>
            </a:r>
          </a:p>
        </p:txBody>
      </p:sp>
      <p:sp>
        <p:nvSpPr>
          <p:cNvPr id="5" name="Rounded Rectangle 4"/>
          <p:cNvSpPr/>
          <p:nvPr/>
        </p:nvSpPr>
        <p:spPr>
          <a:xfrm>
            <a:off x="2833698" y="3625079"/>
            <a:ext cx="2680981"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Ambulance Identified</a:t>
            </a:r>
          </a:p>
        </p:txBody>
      </p:sp>
      <p:sp>
        <p:nvSpPr>
          <p:cNvPr id="6" name="Rounded Rectangle 5"/>
          <p:cNvSpPr/>
          <p:nvPr/>
        </p:nvSpPr>
        <p:spPr>
          <a:xfrm>
            <a:off x="2733773" y="4848282"/>
            <a:ext cx="2934089" cy="731520"/>
          </a:xfrm>
          <a:prstGeom prst="roundRect">
            <a:avLst/>
          </a:prstGeom>
          <a:solidFill>
            <a:srgbClr val="282828"/>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lang="en-IN" dirty="0"/>
              <a:t>       </a:t>
            </a:r>
            <a:r>
              <a:rPr dirty="0"/>
              <a:t>Twilio SMS Alert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FFFFFF"/>
                </a:solidFill>
              </a:defRPr>
            </a:pPr>
            <a:r>
              <a:rPr dirty="0">
                <a:latin typeface="Times New Roman" panose="02020603050405020304" pitchFamily="18" charset="0"/>
                <a:cs typeface="Times New Roman" panose="02020603050405020304" pitchFamily="18" charset="0"/>
              </a:rPr>
              <a:t>Results</a:t>
            </a:r>
          </a:p>
        </p:txBody>
      </p:sp>
      <p:sp>
        <p:nvSpPr>
          <p:cNvPr id="3" name="Content Placeholder 2"/>
          <p:cNvSpPr>
            <a:spLocks noGrp="1"/>
          </p:cNvSpPr>
          <p:nvPr>
            <p:ph idx="1"/>
          </p:nvPr>
        </p:nvSpPr>
        <p:spPr/>
        <p:txBody>
          <a:bodyPr/>
          <a:lstStyle/>
          <a:p>
            <a:pPr>
              <a:defRPr sz="2000">
                <a:solidFill>
                  <a:srgbClr val="FFFFFF"/>
                </a:solidFill>
              </a:defRPr>
            </a:pPr>
            <a:r>
              <a:rPr dirty="0">
                <a:latin typeface="Times New Roman" panose="02020603050405020304" pitchFamily="18" charset="0"/>
                <a:cs typeface="Times New Roman" panose="02020603050405020304" pitchFamily="18" charset="0"/>
              </a:rPr>
              <a:t>• Accurate ambulance detection achieved.</a:t>
            </a:r>
          </a:p>
          <a:p>
            <a:pPr lvl="1">
              <a:defRPr sz="2000">
                <a:solidFill>
                  <a:srgbClr val="FFFFFF"/>
                </a:solidFill>
              </a:defRPr>
            </a:pPr>
            <a:r>
              <a:rPr dirty="0">
                <a:latin typeface="Times New Roman" panose="02020603050405020304" pitchFamily="18" charset="0"/>
                <a:cs typeface="Times New Roman" panose="02020603050405020304" pitchFamily="18" charset="0"/>
              </a:rPr>
              <a:t>• Real-time bounding box visualization.</a:t>
            </a:r>
          </a:p>
          <a:p>
            <a:pPr lvl="1">
              <a:defRPr sz="2000">
                <a:solidFill>
                  <a:srgbClr val="FFFFFF"/>
                </a:solidFill>
              </a:defRPr>
            </a:pPr>
            <a:r>
              <a:rPr dirty="0">
                <a:latin typeface="Times New Roman" panose="02020603050405020304" pitchFamily="18" charset="0"/>
                <a:cs typeface="Times New Roman" panose="02020603050405020304" pitchFamily="18" charset="0"/>
              </a:rPr>
              <a:t>• SMS alert successfully triggered using Twilio.</a:t>
            </a:r>
          </a:p>
          <a:p>
            <a:pPr lvl="1">
              <a:defRPr sz="2000">
                <a:solidFill>
                  <a:srgbClr val="FFFFFF"/>
                </a:solidFill>
              </a:defRPr>
            </a:pPr>
            <a:r>
              <a:rPr dirty="0">
                <a:latin typeface="Times New Roman" panose="02020603050405020304" pitchFamily="18" charset="0"/>
                <a:cs typeface="Times New Roman" panose="02020603050405020304" pitchFamily="18" charset="0"/>
              </a:rPr>
              <a:t>• System tested on traffic video samples.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371</Words>
  <Application>Microsoft Office PowerPoint</Application>
  <PresentationFormat>On-screen Show (4:3)</PresentationFormat>
  <Paragraphs>56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Times New Roman </vt:lpstr>
      <vt:lpstr>Office Theme</vt:lpstr>
      <vt:lpstr>Computer Vision Based Ambulance Detection System</vt:lpstr>
      <vt:lpstr>Identification of Project Title and Domain</vt:lpstr>
      <vt:lpstr>Problem Statement</vt:lpstr>
      <vt:lpstr>Objectives</vt:lpstr>
      <vt:lpstr>Technologies Used</vt:lpstr>
      <vt:lpstr>Custom Trained Dataset</vt:lpstr>
      <vt:lpstr>Literature Survey / Background Study</vt:lpstr>
      <vt:lpstr>System Architecture</vt:lpstr>
      <vt:lpstr>Results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mershick j</cp:lastModifiedBy>
  <cp:revision>3</cp:revision>
  <dcterms:created xsi:type="dcterms:W3CDTF">2013-01-27T09:14:16Z</dcterms:created>
  <dcterms:modified xsi:type="dcterms:W3CDTF">2026-02-23T15:39:15Z</dcterms:modified>
  <cp:category/>
</cp:coreProperties>
</file>