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59" r:id="rId5"/>
    <p:sldId id="260" r:id="rId6"/>
    <p:sldId id="261" r:id="rId7"/>
    <p:sldId id="272" r:id="rId8"/>
    <p:sldId id="264" r:id="rId9"/>
    <p:sldId id="266" r:id="rId10"/>
    <p:sldId id="269" r:id="rId11"/>
    <p:sldId id="270" r:id="rId12"/>
    <p:sldId id="267" r:id="rId13"/>
    <p:sldId id="271" r:id="rId14"/>
    <p:sldId id="26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rshick j" initials="mj" lastIdx="1" clrIdx="0">
    <p:extLst>
      <p:ext uri="{19B8F6BF-5375-455C-9EA6-DF929625EA0E}">
        <p15:presenceInfo xmlns:p15="http://schemas.microsoft.com/office/powerpoint/2012/main" userId="45770e142490b13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p:cViewPr varScale="1">
        <p:scale>
          <a:sx n="81" d="100"/>
          <a:sy n="81" d="100"/>
        </p:scale>
        <p:origin x="91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hyperlink" Target="https://opencv.org/" TargetMode="External"/><Relationship Id="rId7" Type="http://schemas.openxmlformats.org/officeDocument/2006/relationships/image" Target="../media/image2.png"/><Relationship Id="rId2" Type="http://schemas.openxmlformats.org/officeDocument/2006/relationships/hyperlink" Target="https://docs.ultralytics.com/" TargetMode="External"/><Relationship Id="rId1" Type="http://schemas.openxmlformats.org/officeDocument/2006/relationships/slideLayout" Target="../slideLayouts/slideLayout2.xml"/><Relationship Id="rId6" Type="http://schemas.openxmlformats.org/officeDocument/2006/relationships/hyperlink" Target="https://pytorch.org/" TargetMode="External"/><Relationship Id="rId5" Type="http://schemas.openxmlformats.org/officeDocument/2006/relationships/hyperlink" Target="https://roboflow.com/" TargetMode="External"/><Relationship Id="rId4" Type="http://schemas.openxmlformats.org/officeDocument/2006/relationships/hyperlink" Target="https://www.twilio.com/docs/s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1700808"/>
            <a:ext cx="7848872" cy="1600438"/>
          </a:xfrm>
          <a:prstGeom prst="rect">
            <a:avLst/>
          </a:prstGeom>
        </p:spPr>
        <p:txBody>
          <a:bodyPr wrap="square">
            <a:spAutoFit/>
          </a:bodyPr>
          <a:lstStyle/>
          <a:p>
            <a:pPr algn="ctr"/>
            <a:r>
              <a:rPr lang="en-US" sz="1600" b="1" dirty="0">
                <a:solidFill>
                  <a:srgbClr val="002060"/>
                </a:solidFill>
                <a:latin typeface="Times New Roman" pitchFamily="18" charset="0"/>
                <a:ea typeface="Verdana" pitchFamily="34" charset="0"/>
                <a:cs typeface="Times New Roman" pitchFamily="18" charset="0"/>
              </a:rPr>
              <a:t>DIVISION OF ARTIFICIAL INTELLIGENCE AND MACHINE LEARNING</a:t>
            </a:r>
          </a:p>
          <a:p>
            <a:pPr algn="ctr"/>
            <a:r>
              <a:rPr lang="en-US" sz="1400" b="1" dirty="0">
                <a:solidFill>
                  <a:srgbClr val="C00000"/>
                </a:solidFill>
                <a:latin typeface="Times New Roman" pitchFamily="18" charset="0"/>
                <a:ea typeface="Verdana" pitchFamily="34" charset="0"/>
                <a:cs typeface="Times New Roman" pitchFamily="18" charset="0"/>
              </a:rPr>
              <a:t>SCHOOL OF COMPUTER SCIENCE AND TECHNOLOGY </a:t>
            </a:r>
          </a:p>
          <a:p>
            <a:pPr algn="ctr"/>
            <a:r>
              <a:rPr lang="en-US" altLang="en-US" sz="1600" b="1" dirty="0">
                <a:solidFill>
                  <a:srgbClr val="7030A0"/>
                </a:solidFill>
                <a:latin typeface="Times New Roman" pitchFamily="18" charset="0"/>
                <a:ea typeface="Verdana" pitchFamily="34" charset="0"/>
              </a:rPr>
              <a:t>MP2911 MINI PROJECT</a:t>
            </a:r>
          </a:p>
          <a:p>
            <a:pPr lvl="0" algn="ctr" latinLnBrk="1"/>
            <a:r>
              <a:rPr lang="en-US" sz="1600" b="1" dirty="0">
                <a:latin typeface="Times New Roman" pitchFamily="18" charset="0"/>
                <a:ea typeface="Verdana" pitchFamily="34" charset="0"/>
                <a:cs typeface="Times New Roman" pitchFamily="18" charset="0"/>
              </a:rPr>
              <a:t>EVEN SEMESTER 2025-2026 </a:t>
            </a:r>
          </a:p>
          <a:p>
            <a:pPr algn="ctr"/>
            <a:r>
              <a:rPr lang="en-US" sz="1600" b="1" dirty="0">
                <a:latin typeface="Times New Roman" pitchFamily="18" charset="0"/>
                <a:ea typeface="Verdana" pitchFamily="34" charset="0"/>
                <a:cs typeface="Times New Roman" pitchFamily="18" charset="0"/>
              </a:rPr>
              <a:t>FINAL REVIEW- 18/04/2026</a:t>
            </a:r>
            <a:endParaRPr lang="en-IN" sz="1600" dirty="0">
              <a:latin typeface="Times New Roman" pitchFamily="18" charset="0"/>
              <a:ea typeface="Verdana" pitchFamily="34" charset="0"/>
              <a:cs typeface="Times New Roman" pitchFamily="18" charset="0"/>
            </a:endParaRPr>
          </a:p>
          <a:p>
            <a:pPr algn="ctr"/>
            <a:endParaRPr lang="en-IN" dirty="0"/>
          </a:p>
        </p:txBody>
      </p:sp>
      <p:sp>
        <p:nvSpPr>
          <p:cNvPr id="5" name="Rectangle 4"/>
          <p:cNvSpPr/>
          <p:nvPr/>
        </p:nvSpPr>
        <p:spPr>
          <a:xfrm>
            <a:off x="557808" y="3551521"/>
            <a:ext cx="7848872" cy="707886"/>
          </a:xfrm>
          <a:prstGeom prst="rect">
            <a:avLst/>
          </a:prstGeom>
        </p:spPr>
        <p:txBody>
          <a:bodyPr wrap="square">
            <a:spAutoFit/>
          </a:bodyPr>
          <a:lstStyle/>
          <a:p>
            <a:pPr algn="ctr"/>
            <a:r>
              <a:rPr lang="en-IN" sz="2000" b="1" dirty="0">
                <a:latin typeface="Times New Roman" pitchFamily="18" charset="0"/>
                <a:cs typeface="Times New Roman" pitchFamily="18" charset="0"/>
              </a:rPr>
              <a:t>“</a:t>
            </a:r>
            <a:r>
              <a:rPr lang="en-IN" sz="2000" dirty="0">
                <a:latin typeface="Times New Roman" panose="02020603050405020304" pitchFamily="18" charset="0"/>
                <a:cs typeface="Times New Roman" panose="02020603050405020304" pitchFamily="18" charset="0"/>
              </a:rPr>
              <a:t>Computer Vision Based Ambulance Detection and Emergency SMS Alert System”</a:t>
            </a:r>
          </a:p>
        </p:txBody>
      </p:sp>
      <p:sp>
        <p:nvSpPr>
          <p:cNvPr id="7" name="Rectangle 6"/>
          <p:cNvSpPr/>
          <p:nvPr/>
        </p:nvSpPr>
        <p:spPr>
          <a:xfrm>
            <a:off x="237360" y="4721352"/>
            <a:ext cx="4244884" cy="738664"/>
          </a:xfrm>
          <a:prstGeom prst="rect">
            <a:avLst/>
          </a:prstGeom>
        </p:spPr>
        <p:txBody>
          <a:bodyPr wrap="square">
            <a:spAutoFit/>
          </a:bodyPr>
          <a:lstStyle/>
          <a:p>
            <a:r>
              <a:rPr lang="en-IN" sz="1400" b="1" dirty="0">
                <a:latin typeface="Times New Roman" pitchFamily="18" charset="0"/>
                <a:cs typeface="Times New Roman" pitchFamily="18" charset="0"/>
              </a:rPr>
              <a:t>SUPERVISED BY</a:t>
            </a:r>
          </a:p>
          <a:p>
            <a:r>
              <a:rPr lang="en-IN" sz="1400" b="1" dirty="0">
                <a:latin typeface="Times New Roman" panose="02020603050405020304" pitchFamily="18" charset="0"/>
                <a:cs typeface="Times New Roman" panose="02020603050405020304" pitchFamily="18" charset="0"/>
              </a:rPr>
              <a:t>Mrs . ANGELIN JEBA P</a:t>
            </a:r>
          </a:p>
          <a:p>
            <a:r>
              <a:rPr lang="en-IN" sz="1400" b="1" dirty="0">
                <a:latin typeface="Times New Roman" panose="02020603050405020304" pitchFamily="18" charset="0"/>
                <a:cs typeface="Times New Roman" panose="02020603050405020304" pitchFamily="18" charset="0"/>
              </a:rPr>
              <a:t>(ASSISTANT PROFESSOR)</a:t>
            </a:r>
          </a:p>
        </p:txBody>
      </p:sp>
      <p:sp>
        <p:nvSpPr>
          <p:cNvPr id="8" name="Rectangle 7"/>
          <p:cNvSpPr/>
          <p:nvPr/>
        </p:nvSpPr>
        <p:spPr>
          <a:xfrm>
            <a:off x="4482244" y="4721352"/>
            <a:ext cx="4471628" cy="954107"/>
          </a:xfrm>
          <a:prstGeom prst="rect">
            <a:avLst/>
          </a:prstGeom>
        </p:spPr>
        <p:txBody>
          <a:bodyPr wrap="square">
            <a:spAutoFit/>
          </a:bodyPr>
          <a:lstStyle/>
          <a:p>
            <a:pPr algn="just"/>
            <a:r>
              <a:rPr lang="en-IN" sz="1400" b="1" dirty="0">
                <a:latin typeface="Times New Roman" pitchFamily="18" charset="0"/>
                <a:cs typeface="Times New Roman" pitchFamily="18" charset="0"/>
              </a:rPr>
              <a:t>PRESENTED BY</a:t>
            </a:r>
          </a:p>
          <a:p>
            <a:pPr algn="just"/>
            <a:endParaRPr lang="en-IN" sz="1400" b="1" dirty="0">
              <a:latin typeface="Times New Roman" pitchFamily="18" charset="0"/>
              <a:cs typeface="Times New Roman" pitchFamily="18" charset="0"/>
            </a:endParaRPr>
          </a:p>
          <a:p>
            <a:pPr algn="just"/>
            <a:r>
              <a:rPr lang="en-IN" sz="1400" b="1" dirty="0">
                <a:latin typeface="Times New Roman" pitchFamily="18" charset="0"/>
                <a:cs typeface="Times New Roman" pitchFamily="18" charset="0"/>
              </a:rPr>
              <a:t>MERSHICK J		(URK23CS5056)</a:t>
            </a:r>
          </a:p>
          <a:p>
            <a:pPr algn="just"/>
            <a:endParaRPr lang="en-IN" sz="1400" b="1" dirty="0">
              <a:latin typeface="Times New Roman" pitchFamily="18" charset="0"/>
              <a:cs typeface="Times New Roman" pitchFamily="18" charset="0"/>
            </a:endParaRPr>
          </a:p>
        </p:txBody>
      </p:sp>
      <p:pic>
        <p:nvPicPr>
          <p:cNvPr id="1028" name="Picture 4" descr="Home | Karunya Institute of Technology and Sciences | NAAC A++ Accredited |  Best Univers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44" y="304800"/>
            <a:ext cx="7361064" cy="1226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424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rmAutofit fontScale="47500" lnSpcReduction="20000"/>
          </a:bodyPr>
          <a:lstStyle/>
          <a:p>
            <a:pPr>
              <a:lnSpc>
                <a:spcPct val="150000"/>
              </a:lnSpc>
            </a:pPr>
            <a:r>
              <a:rPr lang="en-IN" dirty="0">
                <a:latin typeface="Times New Roman" pitchFamily="18" charset="0"/>
                <a:cs typeface="Times New Roman" pitchFamily="18" charset="0"/>
              </a:rPr>
              <a:t>ABSTRACT</a:t>
            </a:r>
          </a:p>
          <a:p>
            <a:pPr>
              <a:lnSpc>
                <a:spcPct val="150000"/>
              </a:lnSpc>
            </a:pPr>
            <a:r>
              <a:rPr lang="en-IN" dirty="0">
                <a:latin typeface="Times New Roman" pitchFamily="18" charset="0"/>
                <a:cs typeface="Times New Roman" pitchFamily="18" charset="0"/>
              </a:rPr>
              <a:t>OBJECTIVE</a:t>
            </a:r>
          </a:p>
          <a:p>
            <a:pPr>
              <a:lnSpc>
                <a:spcPct val="150000"/>
              </a:lnSpc>
            </a:pPr>
            <a:r>
              <a:rPr lang="en-IN" dirty="0">
                <a:latin typeface="Times New Roman" pitchFamily="18" charset="0"/>
                <a:cs typeface="Times New Roman" pitchFamily="18" charset="0"/>
              </a:rPr>
              <a:t>INTRODUCTION</a:t>
            </a:r>
          </a:p>
          <a:p>
            <a:pPr>
              <a:lnSpc>
                <a:spcPct val="150000"/>
              </a:lnSpc>
            </a:pPr>
            <a:r>
              <a:rPr lang="en-IN" dirty="0">
                <a:latin typeface="Times New Roman" pitchFamily="18" charset="0"/>
                <a:cs typeface="Times New Roman" pitchFamily="18" charset="0"/>
              </a:rPr>
              <a:t>PROBLEM STATEMENT</a:t>
            </a:r>
          </a:p>
          <a:p>
            <a:pPr>
              <a:lnSpc>
                <a:spcPct val="150000"/>
              </a:lnSpc>
            </a:pPr>
            <a:r>
              <a:rPr lang="en-IN" dirty="0">
                <a:latin typeface="Times New Roman" pitchFamily="18" charset="0"/>
                <a:cs typeface="Times New Roman" pitchFamily="18" charset="0"/>
              </a:rPr>
              <a:t>LITERATURE SURVEY</a:t>
            </a:r>
          </a:p>
          <a:p>
            <a:pPr>
              <a:lnSpc>
                <a:spcPct val="150000"/>
              </a:lnSpc>
            </a:pPr>
            <a:r>
              <a:rPr lang="en-US" dirty="0">
                <a:latin typeface="Times New Roman" pitchFamily="18" charset="0"/>
                <a:cs typeface="Times New Roman" pitchFamily="18" charset="0"/>
              </a:rPr>
              <a:t>PROPOSED METHODOLOGY</a:t>
            </a:r>
            <a:endParaRPr lang="en-IN" dirty="0">
              <a:latin typeface="Times New Roman" pitchFamily="18" charset="0"/>
              <a:cs typeface="Times New Roman" pitchFamily="18" charset="0"/>
            </a:endParaRPr>
          </a:p>
          <a:p>
            <a:pPr>
              <a:lnSpc>
                <a:spcPct val="150000"/>
              </a:lnSpc>
            </a:pPr>
            <a:r>
              <a:rPr lang="en-IN" dirty="0">
                <a:latin typeface="Times New Roman" pitchFamily="18" charset="0"/>
                <a:cs typeface="Times New Roman" pitchFamily="18" charset="0"/>
              </a:rPr>
              <a:t>MODULES DESCRIPTION </a:t>
            </a:r>
          </a:p>
          <a:p>
            <a:pPr>
              <a:lnSpc>
                <a:spcPct val="150000"/>
              </a:lnSpc>
            </a:pPr>
            <a:r>
              <a:rPr lang="en-IN" dirty="0">
                <a:latin typeface="Times New Roman" pitchFamily="18" charset="0"/>
                <a:cs typeface="Times New Roman" pitchFamily="18" charset="0"/>
              </a:rPr>
              <a:t>IMPLEMENTATION </a:t>
            </a:r>
          </a:p>
          <a:p>
            <a:pPr>
              <a:lnSpc>
                <a:spcPct val="150000"/>
              </a:lnSpc>
            </a:pPr>
            <a:r>
              <a:rPr lang="en-IN" dirty="0">
                <a:latin typeface="Times New Roman" pitchFamily="18" charset="0"/>
                <a:cs typeface="Times New Roman" pitchFamily="18" charset="0"/>
              </a:rPr>
              <a:t>RESULTS AND DISCUSSION</a:t>
            </a:r>
          </a:p>
          <a:p>
            <a:pPr>
              <a:lnSpc>
                <a:spcPct val="150000"/>
              </a:lnSpc>
            </a:pPr>
            <a:r>
              <a:rPr lang="en-IN" dirty="0">
                <a:latin typeface="Times New Roman" pitchFamily="18" charset="0"/>
                <a:cs typeface="Times New Roman" pitchFamily="18" charset="0"/>
              </a:rPr>
              <a:t>CONCLUSION</a:t>
            </a:r>
          </a:p>
          <a:p>
            <a:pPr>
              <a:lnSpc>
                <a:spcPct val="150000"/>
              </a:lnSpc>
            </a:pPr>
            <a:r>
              <a:rPr lang="en-IN" dirty="0">
                <a:latin typeface="Times New Roman" pitchFamily="18" charset="0"/>
                <a:cs typeface="Times New Roman" pitchFamily="18" charset="0"/>
              </a:rPr>
              <a:t>OUTPUT-SCREENSHOTS </a:t>
            </a:r>
          </a:p>
          <a:p>
            <a:pPr>
              <a:lnSpc>
                <a:spcPct val="150000"/>
              </a:lnSpc>
            </a:pPr>
            <a:r>
              <a:rPr lang="en-IN" dirty="0">
                <a:latin typeface="Times New Roman" pitchFamily="18" charset="0"/>
                <a:cs typeface="Times New Roman" pitchFamily="18" charset="0"/>
              </a:rPr>
              <a:t>REFERENCES</a:t>
            </a:r>
          </a:p>
          <a:p>
            <a:endParaRPr lang="en-US" dirty="0"/>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3400" y="609600"/>
            <a:ext cx="1184940" cy="369332"/>
          </a:xfrm>
          <a:prstGeom prst="rect">
            <a:avLst/>
          </a:prstGeom>
        </p:spPr>
        <p:txBody>
          <a:bodyPr wrap="none">
            <a:spAutoFit/>
          </a:bodyPr>
          <a:lstStyle/>
          <a:p>
            <a:r>
              <a:rPr lang="en-IN" b="1" dirty="0">
                <a:latin typeface="Times New Roman" pitchFamily="18" charset="0"/>
                <a:cs typeface="Times New Roman" pitchFamily="18" charset="0"/>
              </a:rPr>
              <a:t>AGENDA</a:t>
            </a:r>
          </a:p>
        </p:txBody>
      </p:sp>
    </p:spTree>
    <p:extLst>
      <p:ext uri="{BB962C8B-B14F-4D97-AF65-F5344CB8AC3E}">
        <p14:creationId xmlns:p14="http://schemas.microsoft.com/office/powerpoint/2010/main" val="3657943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just"/>
            <a:r>
              <a:rPr lang="en-US" sz="2700" dirty="0">
                <a:latin typeface="Times New Roman" panose="02020603050405020304" pitchFamily="18" charset="0"/>
                <a:cs typeface="Times New Roman" panose="02020603050405020304" pitchFamily="18" charset="0"/>
              </a:rPr>
              <a:t>This project presents a real-time Computer Vision-based Ambulance Detection System integrated with an automated SMS alert mechanism using the Twilio API. The system utilizes a Deep Learning model (YOLO) trained on a custom dataset to accurately detect ambulances in traffic video streams. Video frames are processed using OpenCV, and the trained model identifies the presence of an ambulance with high confidence.</a:t>
            </a:r>
          </a:p>
          <a:p>
            <a:pPr algn="just"/>
            <a:r>
              <a:rPr lang="en-US" sz="2700" dirty="0">
                <a:latin typeface="Times New Roman" panose="02020603050405020304" pitchFamily="18" charset="0"/>
                <a:cs typeface="Times New Roman" panose="02020603050405020304" pitchFamily="18" charset="0"/>
              </a:rPr>
              <a:t>Upon detection, the system automatically triggers an alert and sends an SMS notification to a registered mobile number, enabling faster response and improved coordination in emergency situations. This approach reduces dependency on manual monitoring and enhances the efficiency of emergency traffic management. The proposed system demonstrates the practical application of artificial intelligence, computer vision, and cloud-based communication services in real-world scenarios, and can be further extended for smart city infrastructure and intelligent traffic control systems.</a:t>
            </a:r>
          </a:p>
          <a:p>
            <a:endParaRPr lang="en-US" dirty="0"/>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3400" y="1015046"/>
            <a:ext cx="1863011" cy="461665"/>
          </a:xfrm>
          <a:prstGeom prst="rect">
            <a:avLst/>
          </a:prstGeom>
        </p:spPr>
        <p:txBody>
          <a:bodyPr wrap="none">
            <a:spAutoFit/>
          </a:bodyPr>
          <a:lstStyle/>
          <a:p>
            <a:r>
              <a:rPr lang="en-IN" sz="2400" b="1" dirty="0">
                <a:latin typeface="Times New Roman" pitchFamily="18" charset="0"/>
                <a:cs typeface="Times New Roman" pitchFamily="18" charset="0"/>
              </a:rPr>
              <a:t>ABSTRACT</a:t>
            </a:r>
            <a:endParaRPr lang="en-US" sz="2400" dirty="0"/>
          </a:p>
        </p:txBody>
      </p:sp>
    </p:spTree>
    <p:extLst>
      <p:ext uri="{BB962C8B-B14F-4D97-AF65-F5344CB8AC3E}">
        <p14:creationId xmlns:p14="http://schemas.microsoft.com/office/powerpoint/2010/main" val="3832383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IN" sz="2400" b="1" dirty="0">
                <a:latin typeface="Times New Roman" panose="02020603050405020304" pitchFamily="18" charset="0"/>
                <a:cs typeface="Times New Roman" pitchFamily="18" charset="0"/>
              </a:rPr>
              <a:t>Aim of the Project</a:t>
            </a:r>
            <a:r>
              <a:rPr lang="en-IN" sz="2400" dirty="0">
                <a:latin typeface="Times New Roman" panose="02020603050405020304" pitchFamily="18" charset="0"/>
                <a:cs typeface="Times New Roman" pitchFamily="18" charset="0"/>
              </a:rPr>
              <a:t>: </a:t>
            </a:r>
            <a:r>
              <a:rPr lang="en-US" sz="1900" dirty="0"/>
              <a:t>The aim of this project is to develop a real-time Computer Vision-based system that can accurately detect ambulances in traffic using a Deep Learning (YOLO) model and automatically send SMS alerts through the Twilio API. The system is designed to reduce emergency response time by enabling quick identification of ambulances and immediate communication to concerned authorities, thereby improving traffic management and public safety.</a:t>
            </a:r>
          </a:p>
          <a:p>
            <a:pPr marL="0" indent="0" algn="just">
              <a:buNone/>
            </a:pPr>
            <a:endParaRPr lang="en-IN" sz="2400" b="1" dirty="0">
              <a:latin typeface="Times New Roman" panose="02020603050405020304" pitchFamily="18" charset="0"/>
              <a:cs typeface="Times New Roman"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Scope of the Project : </a:t>
            </a:r>
            <a:r>
              <a:rPr lang="en-US" sz="1900" dirty="0">
                <a:latin typeface="Times New Roman" panose="02020603050405020304" pitchFamily="18" charset="0"/>
                <a:cs typeface="Times New Roman" panose="02020603050405020304" pitchFamily="18" charset="0"/>
              </a:rPr>
              <a:t>The project focuses on real-time ambulance detection using deep learning and automated SMS alerts, with future scope for smart traffic signal integration and smart city deployment.</a:t>
            </a:r>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3400" y="914400"/>
            <a:ext cx="2135521" cy="461665"/>
          </a:xfrm>
          <a:prstGeom prst="rect">
            <a:avLst/>
          </a:prstGeom>
        </p:spPr>
        <p:txBody>
          <a:bodyPr wrap="none">
            <a:spAutoFit/>
          </a:bodyPr>
          <a:lstStyle/>
          <a:p>
            <a:r>
              <a:rPr lang="en-IN" sz="2400" b="1" dirty="0">
                <a:latin typeface="Times New Roman" pitchFamily="18" charset="0"/>
                <a:cs typeface="Times New Roman" pitchFamily="18" charset="0"/>
              </a:rPr>
              <a:t>OBJECTIVES</a:t>
            </a:r>
            <a:endParaRPr lang="en-US" sz="2400" dirty="0"/>
          </a:p>
        </p:txBody>
      </p:sp>
    </p:spTree>
    <p:extLst>
      <p:ext uri="{BB962C8B-B14F-4D97-AF65-F5344CB8AC3E}">
        <p14:creationId xmlns:p14="http://schemas.microsoft.com/office/powerpoint/2010/main" val="783639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sz="2000" dirty="0">
                <a:latin typeface="Times New Roman" panose="02020603050405020304" pitchFamily="18" charset="0"/>
                <a:cs typeface="Times New Roman" panose="02020603050405020304" pitchFamily="18" charset="0"/>
              </a:rPr>
              <a:t>With the rapid growth of urbanization, traffic congestion has become a major challenge, especially affecting emergency services such as ambulances. Delays in ambulance movement can lead to critical consequences, including increased risk to patient lives. Traditional traffic monitoring systems mainly rely on manual observation through CCTV cameras, which is inefficient and lacks the ability to automatically identify emergency vehicles in real time.</a:t>
            </a:r>
          </a:p>
          <a:p>
            <a:pPr algn="just"/>
            <a:r>
              <a:rPr lang="en-US" sz="2000" dirty="0">
                <a:latin typeface="Times New Roman" panose="02020603050405020304" pitchFamily="18" charset="0"/>
                <a:cs typeface="Times New Roman" panose="02020603050405020304" pitchFamily="18" charset="0"/>
              </a:rPr>
              <a:t>To address this issue, this project proposes a Computer Vision-based Ambulance Detection System using Deep Learning techniques. The system utilizes the YOLO (You Only Look Once) model to detect ambulances from live or recorded video streams with high accuracy. Once an ambulance is detected, the system automatically triggers an alert and sends an SMS notification using the Twilio API. This enables faster communication with authorities and helps in improving emergency response time.</a:t>
            </a:r>
          </a:p>
          <a:p>
            <a:endParaRPr lang="en-US" sz="1900" dirty="0"/>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57200" y="838200"/>
            <a:ext cx="2650084"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INTRODUCTION</a:t>
            </a:r>
            <a:endParaRPr lang="en-US" sz="2400" dirty="0"/>
          </a:p>
        </p:txBody>
      </p:sp>
    </p:spTree>
    <p:extLst>
      <p:ext uri="{BB962C8B-B14F-4D97-AF65-F5344CB8AC3E}">
        <p14:creationId xmlns:p14="http://schemas.microsoft.com/office/powerpoint/2010/main" val="128435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defRPr sz="2000">
                <a:solidFill>
                  <a:srgbClr val="FFFFFF"/>
                </a:solidFill>
              </a:defRP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In rapidly growing urban areas, traffic congestion has become a major challenge, significantly affecting emergency response systems. Ambulances transporting critical patients often experience delays due to heavy traffic and lack of priority management. Current traffic monitoring systems primarily rely on manual CCTV observation, which does not provide automatic identification of emergency vehicles. The absence of intelligent detection and alert mechanisms results in delayed coordination between traffic authorities and emergency services. </a:t>
            </a:r>
          </a:p>
          <a:p>
            <a:pPr algn="just">
              <a:defRPr sz="2000">
                <a:solidFill>
                  <a:srgbClr val="FFFFFF"/>
                </a:solidFill>
              </a:defRPr>
            </a:pP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defRPr sz="2000">
                <a:solidFill>
                  <a:srgbClr val="FFFFFF"/>
                </a:solidFill>
              </a:defRP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Traditional traffic systems lack automated emergency vehicle recognition and notification mechanisms.</a:t>
            </a:r>
          </a:p>
          <a:p>
            <a:pPr algn="just">
              <a:defRPr sz="2000">
                <a:solidFill>
                  <a:srgbClr val="FFFFFF"/>
                </a:solidFill>
              </a:defRPr>
            </a:pP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defRPr sz="2000">
                <a:solidFill>
                  <a:srgbClr val="FFFFFF"/>
                </a:solidFill>
              </a:defRP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Delays in ambulance movement can increase risk to patients, making intelligent detection systems essential.</a:t>
            </a:r>
          </a:p>
          <a:p>
            <a:pPr algn="just">
              <a:defRPr sz="2000">
                <a:solidFill>
                  <a:srgbClr val="FFFFFF"/>
                </a:solidFill>
              </a:defRPr>
            </a:pP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defRPr sz="2000">
                <a:solidFill>
                  <a:srgbClr val="FFFFFF"/>
                </a:solidFill>
              </a:defRP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Delays in ambulance movement can increase risk to patients, making intelligent detection systems essential.</a:t>
            </a:r>
            <a:endParaRPr lang="en-US" dirty="0">
              <a:solidFill>
                <a:schemeClr val="tx1">
                  <a:lumMod val="95000"/>
                  <a:lumOff val="5000"/>
                </a:schemeClr>
              </a:solidFill>
            </a:endParaRPr>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57200" y="609600"/>
            <a:ext cx="3704091" cy="579967"/>
          </a:xfrm>
          <a:prstGeom prst="rect">
            <a:avLst/>
          </a:prstGeom>
        </p:spPr>
        <p:txBody>
          <a:bodyPr wrap="none">
            <a:spAutoFit/>
          </a:bodyPr>
          <a:lstStyle/>
          <a:p>
            <a:pPr>
              <a:lnSpc>
                <a:spcPct val="150000"/>
              </a:lnSpc>
            </a:pPr>
            <a:r>
              <a:rPr lang="en-IN" sz="2400" b="1" dirty="0">
                <a:latin typeface="Times New Roman" pitchFamily="18" charset="0"/>
                <a:cs typeface="Times New Roman" pitchFamily="18" charset="0"/>
              </a:rPr>
              <a:t>PROBLEM STATEMENT</a:t>
            </a:r>
          </a:p>
        </p:txBody>
      </p:sp>
    </p:spTree>
    <p:extLst>
      <p:ext uri="{BB962C8B-B14F-4D97-AF65-F5344CB8AC3E}">
        <p14:creationId xmlns:p14="http://schemas.microsoft.com/office/powerpoint/2010/main" val="2232468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4D67E-560E-BF08-1807-42A7A95DE0C6}"/>
            </a:ext>
          </a:extLst>
        </p:cNvPr>
        <p:cNvGrpSpPr/>
        <p:nvPr/>
      </p:nvGrpSpPr>
      <p:grpSpPr>
        <a:xfrm>
          <a:off x="0" y="0"/>
          <a:ext cx="0" cy="0"/>
          <a:chOff x="0" y="0"/>
          <a:chExt cx="0" cy="0"/>
        </a:xfrm>
      </p:grpSpPr>
      <p:pic>
        <p:nvPicPr>
          <p:cNvPr id="4" name="Picture 2" descr="About Us | Karunya Institute of Technology and Sciences | NAAC A++  Accredited | Best University">
            <a:extLst>
              <a:ext uri="{FF2B5EF4-FFF2-40B4-BE49-F238E27FC236}">
                <a16:creationId xmlns:a16="http://schemas.microsoft.com/office/drawing/2014/main" id="{9C8BC029-B856-6AD6-53A6-8D628B618B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5BE923A-4348-D9D3-D1A4-A29167EB35E6}"/>
              </a:ext>
            </a:extLst>
          </p:cNvPr>
          <p:cNvSpPr/>
          <p:nvPr/>
        </p:nvSpPr>
        <p:spPr>
          <a:xfrm>
            <a:off x="457200" y="609600"/>
            <a:ext cx="3533340" cy="579967"/>
          </a:xfrm>
          <a:prstGeom prst="rect">
            <a:avLst/>
          </a:prstGeom>
        </p:spPr>
        <p:txBody>
          <a:bodyPr wrap="none">
            <a:spAutoFit/>
          </a:bodyPr>
          <a:lstStyle/>
          <a:p>
            <a:pPr>
              <a:lnSpc>
                <a:spcPct val="150000"/>
              </a:lnSpc>
            </a:pPr>
            <a:r>
              <a:rPr lang="en-IN" sz="2400" b="1" dirty="0">
                <a:latin typeface="Times New Roman" pitchFamily="18" charset="0"/>
                <a:cs typeface="Times New Roman" pitchFamily="18" charset="0"/>
              </a:rPr>
              <a:t>LITERATURE SURVEY</a:t>
            </a:r>
          </a:p>
        </p:txBody>
      </p:sp>
      <p:pic>
        <p:nvPicPr>
          <p:cNvPr id="2" name="Content Placeholder 1">
            <a:extLst>
              <a:ext uri="{FF2B5EF4-FFF2-40B4-BE49-F238E27FC236}">
                <a16:creationId xmlns:a16="http://schemas.microsoft.com/office/drawing/2014/main" id="{DA2A3C94-3EEB-03D1-D859-E0D6DAD35F60}"/>
              </a:ext>
            </a:extLst>
          </p:cNvPr>
          <p:cNvPicPr>
            <a:picLocks noGrp="1" noChangeAspect="1"/>
          </p:cNvPicPr>
          <p:nvPr>
            <p:ph idx="1"/>
          </p:nvPr>
        </p:nvPicPr>
        <p:blipFill>
          <a:blip r:embed="rId3"/>
          <a:stretch>
            <a:fillRect/>
          </a:stretch>
        </p:blipFill>
        <p:spPr>
          <a:xfrm>
            <a:off x="1182815" y="1600200"/>
            <a:ext cx="6778369" cy="4525963"/>
          </a:xfrm>
          <a:prstGeom prst="rect">
            <a:avLst/>
          </a:prstGeom>
        </p:spPr>
      </p:pic>
    </p:spTree>
    <p:extLst>
      <p:ext uri="{BB962C8B-B14F-4D97-AF65-F5344CB8AC3E}">
        <p14:creationId xmlns:p14="http://schemas.microsoft.com/office/powerpoint/2010/main" val="2832585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b="1" dirty="0">
                <a:latin typeface="Times New Roman" pitchFamily="18" charset="0"/>
                <a:cs typeface="Times New Roman" pitchFamily="18" charset="0"/>
              </a:rPr>
              <a:t>PROPOSED METHODOLGY</a:t>
            </a:r>
            <a:endParaRPr lang="en-US" sz="2400" b="1" dirty="0"/>
          </a:p>
        </p:txBody>
      </p:sp>
      <p:sp>
        <p:nvSpPr>
          <p:cNvPr id="3" name="Content Placeholder 2"/>
          <p:cNvSpPr>
            <a:spLocks noGrp="1"/>
          </p:cNvSpPr>
          <p:nvPr>
            <p:ph idx="1"/>
          </p:nvPr>
        </p:nvSpPr>
        <p:spPr/>
        <p:txBody>
          <a:bodyPr>
            <a:normAutofit/>
          </a:bodyPr>
          <a:lstStyle/>
          <a:p>
            <a:r>
              <a:rPr lang="en-US" sz="2000" dirty="0"/>
              <a:t>The system captures video, detects ambulances using a YOLO model, and sends SMS alerts via Twilio when an ambulance is identified.</a:t>
            </a:r>
          </a:p>
          <a:p>
            <a:endParaRPr lang="en-US" sz="1900" dirty="0"/>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2">
            <a:extLst>
              <a:ext uri="{FF2B5EF4-FFF2-40B4-BE49-F238E27FC236}">
                <a16:creationId xmlns:a16="http://schemas.microsoft.com/office/drawing/2014/main" id="{AB3E7F00-56B2-7428-951B-6885943939AC}"/>
              </a:ext>
            </a:extLst>
          </p:cNvPr>
          <p:cNvSpPr/>
          <p:nvPr/>
        </p:nvSpPr>
        <p:spPr>
          <a:xfrm>
            <a:off x="2743200" y="2438400"/>
            <a:ext cx="2680982"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Video Input</a:t>
            </a:r>
          </a:p>
        </p:txBody>
      </p:sp>
      <p:sp>
        <p:nvSpPr>
          <p:cNvPr id="7" name="Rounded Rectangle 3">
            <a:extLst>
              <a:ext uri="{FF2B5EF4-FFF2-40B4-BE49-F238E27FC236}">
                <a16:creationId xmlns:a16="http://schemas.microsoft.com/office/drawing/2014/main" id="{9F6BBC37-9B52-85AE-EF12-95FD5895D979}"/>
              </a:ext>
            </a:extLst>
          </p:cNvPr>
          <p:cNvSpPr/>
          <p:nvPr/>
        </p:nvSpPr>
        <p:spPr>
          <a:xfrm>
            <a:off x="2743200" y="3346197"/>
            <a:ext cx="2680983"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YOLO Detection</a:t>
            </a:r>
          </a:p>
        </p:txBody>
      </p:sp>
      <p:sp>
        <p:nvSpPr>
          <p:cNvPr id="8" name="Rounded Rectangle 4">
            <a:extLst>
              <a:ext uri="{FF2B5EF4-FFF2-40B4-BE49-F238E27FC236}">
                <a16:creationId xmlns:a16="http://schemas.microsoft.com/office/drawing/2014/main" id="{99FF926E-81C0-C418-8A93-46E50D8338A8}"/>
              </a:ext>
            </a:extLst>
          </p:cNvPr>
          <p:cNvSpPr/>
          <p:nvPr/>
        </p:nvSpPr>
        <p:spPr>
          <a:xfrm>
            <a:off x="2743200" y="4253994"/>
            <a:ext cx="2680981"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Ambulance Identified</a:t>
            </a:r>
          </a:p>
        </p:txBody>
      </p:sp>
      <p:sp>
        <p:nvSpPr>
          <p:cNvPr id="9" name="Rounded Rectangle 5">
            <a:extLst>
              <a:ext uri="{FF2B5EF4-FFF2-40B4-BE49-F238E27FC236}">
                <a16:creationId xmlns:a16="http://schemas.microsoft.com/office/drawing/2014/main" id="{D9ECF4B4-1B10-5FE3-1176-742181B9DFF8}"/>
              </a:ext>
            </a:extLst>
          </p:cNvPr>
          <p:cNvSpPr/>
          <p:nvPr/>
        </p:nvSpPr>
        <p:spPr>
          <a:xfrm>
            <a:off x="2616645" y="5264870"/>
            <a:ext cx="2934089"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Twilio SMS Alert</a:t>
            </a:r>
          </a:p>
        </p:txBody>
      </p:sp>
    </p:spTree>
    <p:extLst>
      <p:ext uri="{BB962C8B-B14F-4D97-AF65-F5344CB8AC3E}">
        <p14:creationId xmlns:p14="http://schemas.microsoft.com/office/powerpoint/2010/main" val="2177809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400" b="1" dirty="0">
                <a:latin typeface="Times New Roman" pitchFamily="18" charset="0"/>
                <a:cs typeface="Times New Roman" pitchFamily="18" charset="0"/>
              </a:rPr>
              <a:t>MODULES DESCRIPTION </a:t>
            </a:r>
            <a:br>
              <a:rPr lang="en-IN" sz="2400" dirty="0">
                <a:latin typeface="Times New Roman" pitchFamily="18" charset="0"/>
                <a:cs typeface="Times New Roman" pitchFamily="18" charset="0"/>
              </a:rPr>
            </a:br>
            <a:br>
              <a:rPr lang="en-IN" sz="2400" b="1" dirty="0">
                <a:latin typeface="Times New Roman" pitchFamily="18" charset="0"/>
                <a:cs typeface="Times New Roman" pitchFamily="18" charset="0"/>
              </a:rPr>
            </a:br>
            <a:endParaRPr lang="en-US" sz="2400" b="1" dirty="0"/>
          </a:p>
        </p:txBody>
      </p:sp>
      <p:sp>
        <p:nvSpPr>
          <p:cNvPr id="3" name="Content Placeholder 2"/>
          <p:cNvSpPr>
            <a:spLocks noGrp="1"/>
          </p:cNvSpPr>
          <p:nvPr>
            <p:ph idx="1"/>
          </p:nvPr>
        </p:nvSpPr>
        <p:spPr/>
        <p:txBody>
          <a:bodyPr/>
          <a:lstStyle/>
          <a:p>
            <a:pPr marL="0" indent="0">
              <a:buNone/>
            </a:pPr>
            <a:r>
              <a:rPr lang="en-US" sz="1900" dirty="0">
                <a:latin typeface="Times New Roman" panose="02020603050405020304" pitchFamily="18" charset="0"/>
                <a:ea typeface="Tahoma" panose="020B0604030504040204" pitchFamily="34" charset="0"/>
                <a:cs typeface="Times New Roman" panose="02020603050405020304" pitchFamily="18" charset="0"/>
              </a:rPr>
              <a:t> The proposed system is divided into the following functional modules:</a:t>
            </a:r>
          </a:p>
          <a:p>
            <a:pPr marL="0" lvl="0" indent="0" eaLnBrk="0" fontAlgn="base" hangingPunct="0">
              <a:spcBef>
                <a:spcPct val="0"/>
              </a:spcBef>
              <a:spcAft>
                <a:spcPct val="0"/>
              </a:spcAft>
              <a:buNone/>
            </a:pPr>
            <a:endParaRPr lang="en-US" altLang="en-US" sz="1600" dirty="0">
              <a:latin typeface="Times New Roman" panose="02020603050405020304" pitchFamily="18" charset="0"/>
              <a:ea typeface="Tahoma" panose="020B0604030504040204" pitchFamily="34"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Video Input Module</a:t>
            </a:r>
            <a:r>
              <a:rPr lang="en-US" sz="1900" dirty="0">
                <a:latin typeface="Times New Roman" panose="02020603050405020304" pitchFamily="18" charset="0"/>
                <a:cs typeface="Times New Roman" panose="02020603050405020304" pitchFamily="18" charset="0"/>
              </a:rPr>
              <a:t> – Captures video from camera or file for processing. </a:t>
            </a:r>
          </a:p>
          <a:p>
            <a:r>
              <a:rPr lang="en-US" sz="1900" b="1" dirty="0">
                <a:latin typeface="Times New Roman" panose="02020603050405020304" pitchFamily="18" charset="0"/>
                <a:cs typeface="Times New Roman" panose="02020603050405020304" pitchFamily="18" charset="0"/>
              </a:rPr>
              <a:t>Frame Preprocessing Module</a:t>
            </a:r>
            <a:r>
              <a:rPr lang="en-US" sz="1900" dirty="0">
                <a:latin typeface="Times New Roman" panose="02020603050405020304" pitchFamily="18" charset="0"/>
                <a:cs typeface="Times New Roman" panose="02020603050405020304" pitchFamily="18" charset="0"/>
              </a:rPr>
              <a:t> – Resizes and prepares frames for efficient detection. </a:t>
            </a:r>
          </a:p>
          <a:p>
            <a:r>
              <a:rPr lang="en-US" sz="1900" b="1" dirty="0">
                <a:latin typeface="Times New Roman" panose="02020603050405020304" pitchFamily="18" charset="0"/>
                <a:cs typeface="Times New Roman" panose="02020603050405020304" pitchFamily="18" charset="0"/>
              </a:rPr>
              <a:t>Ambulance Detection Module (YOLO)</a:t>
            </a:r>
            <a:r>
              <a:rPr lang="en-US" sz="1900" dirty="0">
                <a:latin typeface="Times New Roman" panose="02020603050405020304" pitchFamily="18" charset="0"/>
                <a:cs typeface="Times New Roman" panose="02020603050405020304" pitchFamily="18" charset="0"/>
              </a:rPr>
              <a:t> – Detects ambulances in frames using a deep learning model. </a:t>
            </a:r>
          </a:p>
          <a:p>
            <a:r>
              <a:rPr lang="en-US" sz="1900" b="1" dirty="0">
                <a:latin typeface="Times New Roman" panose="02020603050405020304" pitchFamily="18" charset="0"/>
                <a:cs typeface="Times New Roman" panose="02020603050405020304" pitchFamily="18" charset="0"/>
              </a:rPr>
              <a:t>Classification &amp; Validation Module</a:t>
            </a:r>
            <a:r>
              <a:rPr lang="en-US" sz="1900" dirty="0">
                <a:latin typeface="Times New Roman" panose="02020603050405020304" pitchFamily="18" charset="0"/>
                <a:cs typeface="Times New Roman" panose="02020603050405020304" pitchFamily="18" charset="0"/>
              </a:rPr>
              <a:t> – Filters ambulance detections based on label and confidence. </a:t>
            </a:r>
          </a:p>
          <a:p>
            <a:r>
              <a:rPr lang="en-US" sz="1900" b="1" dirty="0">
                <a:latin typeface="Times New Roman" panose="02020603050405020304" pitchFamily="18" charset="0"/>
                <a:cs typeface="Times New Roman" panose="02020603050405020304" pitchFamily="18" charset="0"/>
              </a:rPr>
              <a:t>SMS Alert Module</a:t>
            </a:r>
            <a:r>
              <a:rPr lang="en-US" sz="1900" dirty="0">
                <a:latin typeface="Times New Roman" panose="02020603050405020304" pitchFamily="18" charset="0"/>
                <a:cs typeface="Times New Roman" panose="02020603050405020304" pitchFamily="18" charset="0"/>
              </a:rPr>
              <a:t> – Sends an alert message using the Twilio API when an ambulance is detected. </a:t>
            </a:r>
          </a:p>
          <a:p>
            <a:r>
              <a:rPr lang="en-US" sz="1900" b="1" dirty="0">
                <a:latin typeface="Times New Roman" panose="02020603050405020304" pitchFamily="18" charset="0"/>
                <a:cs typeface="Times New Roman" panose="02020603050405020304" pitchFamily="18" charset="0"/>
              </a:rPr>
              <a:t>Output Display Module</a:t>
            </a:r>
            <a:r>
              <a:rPr lang="en-US" sz="1900" dirty="0">
                <a:latin typeface="Times New Roman" panose="02020603050405020304" pitchFamily="18" charset="0"/>
                <a:cs typeface="Times New Roman" panose="02020603050405020304" pitchFamily="18" charset="0"/>
              </a:rPr>
              <a:t> – Displays the video with bounding boxes and detection results. </a:t>
            </a:r>
          </a:p>
          <a:p>
            <a:pPr marL="0" lvl="0" indent="0" eaLnBrk="0" fontAlgn="base" hangingPunct="0">
              <a:spcBef>
                <a:spcPct val="0"/>
              </a:spcBef>
              <a:spcAft>
                <a:spcPct val="0"/>
              </a:spcAft>
              <a:buNone/>
            </a:pPr>
            <a:endParaRPr lang="en-US" sz="1600" dirty="0"/>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352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868362"/>
          </a:xfrm>
        </p:spPr>
        <p:txBody>
          <a:bodyPr>
            <a:normAutofit/>
          </a:bodyPr>
          <a:lstStyle/>
          <a:p>
            <a:pPr algn="l"/>
            <a:r>
              <a:rPr lang="en-IN" sz="2400" b="1" dirty="0">
                <a:latin typeface="Times New Roman" pitchFamily="18" charset="0"/>
                <a:cs typeface="Times New Roman" pitchFamily="18" charset="0"/>
              </a:rPr>
              <a:t>IMPLEMENTATION</a:t>
            </a:r>
            <a:endParaRPr lang="en-US" sz="2400" b="1" dirty="0"/>
          </a:p>
        </p:txBody>
      </p:sp>
      <p:sp>
        <p:nvSpPr>
          <p:cNvPr id="3" name="Content Placeholder 2"/>
          <p:cNvSpPr>
            <a:spLocks noGrp="1"/>
          </p:cNvSpPr>
          <p:nvPr>
            <p:ph idx="1"/>
          </p:nvPr>
        </p:nvSpPr>
        <p:spPr>
          <a:xfrm>
            <a:off x="457200" y="1295400"/>
            <a:ext cx="8229600" cy="5181600"/>
          </a:xfrm>
        </p:spPr>
        <p:txBody>
          <a:bodyPr>
            <a:normAutofit fontScale="25000" lnSpcReduction="20000"/>
          </a:bodyPr>
          <a:lstStyle/>
          <a:p>
            <a:r>
              <a:rPr lang="en-US" sz="6400" dirty="0">
                <a:latin typeface="Times New Roman" panose="02020603050405020304" pitchFamily="18" charset="0"/>
                <a:cs typeface="Times New Roman" panose="02020603050405020304" pitchFamily="18" charset="0"/>
              </a:rPr>
              <a:t>The system is implemented using Python with libraries such as OpenCV, </a:t>
            </a:r>
            <a:r>
              <a:rPr lang="en-US" sz="6400" dirty="0" err="1">
                <a:latin typeface="Times New Roman" panose="02020603050405020304" pitchFamily="18" charset="0"/>
                <a:cs typeface="Times New Roman" panose="02020603050405020304" pitchFamily="18" charset="0"/>
              </a:rPr>
              <a:t>Ultralytics</a:t>
            </a:r>
            <a:r>
              <a:rPr lang="en-US" sz="6400" dirty="0">
                <a:latin typeface="Times New Roman" panose="02020603050405020304" pitchFamily="18" charset="0"/>
                <a:cs typeface="Times New Roman" panose="02020603050405020304" pitchFamily="18" charset="0"/>
              </a:rPr>
              <a:t> YOLO, and Torch for deep learning, along with the Twilio API for sending SMS alerts.</a:t>
            </a:r>
          </a:p>
          <a:p>
            <a:r>
              <a:rPr lang="en-US" sz="6400" dirty="0">
                <a:latin typeface="Times New Roman" panose="02020603050405020304" pitchFamily="18" charset="0"/>
                <a:cs typeface="Times New Roman" panose="02020603050405020304" pitchFamily="18" charset="0"/>
              </a:rPr>
              <a:t>Dataset Preparation</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A custom dataset of ambulance images was collected and annotated using </a:t>
            </a:r>
            <a:r>
              <a:rPr lang="en-US" sz="6400" dirty="0" err="1">
                <a:latin typeface="Times New Roman" panose="02020603050405020304" pitchFamily="18" charset="0"/>
                <a:cs typeface="Times New Roman" panose="02020603050405020304" pitchFamily="18" charset="0"/>
              </a:rPr>
              <a:t>Roboflow</a:t>
            </a:r>
            <a:r>
              <a:rPr lang="en-US" sz="6400" dirty="0">
                <a:latin typeface="Times New Roman" panose="02020603050405020304" pitchFamily="18" charset="0"/>
                <a:cs typeface="Times New Roman" panose="02020603050405020304" pitchFamily="18" charset="0"/>
              </a:rPr>
              <a:t>. The dataset was then split into training, validation, and test sets. </a:t>
            </a:r>
          </a:p>
          <a:p>
            <a:r>
              <a:rPr lang="en-US" sz="6400" dirty="0">
                <a:latin typeface="Times New Roman" panose="02020603050405020304" pitchFamily="18" charset="0"/>
                <a:cs typeface="Times New Roman" panose="02020603050405020304" pitchFamily="18" charset="0"/>
              </a:rPr>
              <a:t>Model Training</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A YOLO-based deep learning model was trained on the dataset to detect ambulances. Training was performed using the </a:t>
            </a:r>
            <a:r>
              <a:rPr lang="en-US" sz="6400" dirty="0" err="1">
                <a:latin typeface="Times New Roman" panose="02020603050405020304" pitchFamily="18" charset="0"/>
                <a:cs typeface="Times New Roman" panose="02020603050405020304" pitchFamily="18" charset="0"/>
              </a:rPr>
              <a:t>Ultralytics</a:t>
            </a:r>
            <a:r>
              <a:rPr lang="en-US" sz="6400" dirty="0">
                <a:latin typeface="Times New Roman" panose="02020603050405020304" pitchFamily="18" charset="0"/>
                <a:cs typeface="Times New Roman" panose="02020603050405020304" pitchFamily="18" charset="0"/>
              </a:rPr>
              <a:t> framework to achieve high accuracy. </a:t>
            </a:r>
          </a:p>
          <a:p>
            <a:r>
              <a:rPr lang="en-US" sz="6400" dirty="0">
                <a:latin typeface="Times New Roman" panose="02020603050405020304" pitchFamily="18" charset="0"/>
                <a:cs typeface="Times New Roman" panose="02020603050405020304" pitchFamily="18" charset="0"/>
              </a:rPr>
              <a:t>Model Integration</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The trained model (ambulance2.pt) was loaded into a Python program using the YOLO library and deployed for real-time detection. </a:t>
            </a:r>
          </a:p>
          <a:p>
            <a:r>
              <a:rPr lang="en-US" sz="6400" dirty="0">
                <a:latin typeface="Times New Roman" panose="02020603050405020304" pitchFamily="18" charset="0"/>
                <a:cs typeface="Times New Roman" panose="02020603050405020304" pitchFamily="18" charset="0"/>
              </a:rPr>
              <a:t>Video Processing</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OpenCV is used to capture video frames from a file or camera. Each frame is resized and passed to the YOLO model for detection. </a:t>
            </a:r>
          </a:p>
          <a:p>
            <a:r>
              <a:rPr lang="en-US" sz="6400" dirty="0">
                <a:latin typeface="Times New Roman" panose="02020603050405020304" pitchFamily="18" charset="0"/>
                <a:cs typeface="Times New Roman" panose="02020603050405020304" pitchFamily="18" charset="0"/>
              </a:rPr>
              <a:t>Ambulance Detection Logic</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The model identifies objects in each frame, and only detections labeled as “ambulance” with sufficient confidence are considered. </a:t>
            </a:r>
          </a:p>
          <a:p>
            <a:r>
              <a:rPr lang="en-US" sz="6400" dirty="0">
                <a:latin typeface="Times New Roman" panose="02020603050405020304" pitchFamily="18" charset="0"/>
                <a:cs typeface="Times New Roman" panose="02020603050405020304" pitchFamily="18" charset="0"/>
              </a:rPr>
              <a:t>SMS Alert Integration</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When an ambulance is detected, an SMS alert is triggered using the Twilio API by sending a message to a predefined mobile number. </a:t>
            </a:r>
          </a:p>
          <a:p>
            <a:r>
              <a:rPr lang="en-US" sz="6400" dirty="0">
                <a:latin typeface="Times New Roman" panose="02020603050405020304" pitchFamily="18" charset="0"/>
                <a:cs typeface="Times New Roman" panose="02020603050405020304" pitchFamily="18" charset="0"/>
              </a:rPr>
              <a:t>Output Visualization</a:t>
            </a:r>
            <a:br>
              <a:rPr lang="en-US" sz="6400" dirty="0">
                <a:latin typeface="Times New Roman" panose="02020603050405020304" pitchFamily="18" charset="0"/>
                <a:cs typeface="Times New Roman" panose="02020603050405020304" pitchFamily="18" charset="0"/>
              </a:rPr>
            </a:br>
            <a:r>
              <a:rPr lang="en-US" sz="6400" dirty="0">
                <a:latin typeface="Times New Roman" panose="02020603050405020304" pitchFamily="18" charset="0"/>
                <a:cs typeface="Times New Roman" panose="02020603050405020304" pitchFamily="18" charset="0"/>
              </a:rPr>
              <a:t>The system displays the video output with bounding boxes and labels indicating detected ambulances in real time.</a:t>
            </a:r>
          </a:p>
          <a:p>
            <a:endParaRPr lang="en-US" sz="1600" dirty="0"/>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060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400" b="1" dirty="0">
                <a:latin typeface="Times New Roman" pitchFamily="18" charset="0"/>
                <a:cs typeface="Times New Roman" pitchFamily="18" charset="0"/>
              </a:rPr>
              <a:t>RESULTS AND DISCUSSION</a:t>
            </a:r>
            <a:br>
              <a:rPr lang="en-IN" sz="2400" b="1" dirty="0">
                <a:latin typeface="Times New Roman" pitchFamily="18" charset="0"/>
                <a:cs typeface="Times New Roman" pitchFamily="18" charset="0"/>
              </a:rPr>
            </a:br>
            <a:endParaRPr lang="en-US" sz="2400" b="1" dirty="0"/>
          </a:p>
        </p:txBody>
      </p:sp>
      <p:sp>
        <p:nvSpPr>
          <p:cNvPr id="3" name="Content Placeholder 2"/>
          <p:cNvSpPr>
            <a:spLocks noGrp="1"/>
          </p:cNvSpPr>
          <p:nvPr>
            <p:ph idx="1"/>
          </p:nvPr>
        </p:nvSpPr>
        <p:spPr/>
        <p:txBody>
          <a:bodyPr>
            <a:normAutofit fontScale="92500" lnSpcReduction="20000"/>
          </a:bodyPr>
          <a:lstStyle/>
          <a:p>
            <a:pPr algn="just"/>
            <a:r>
              <a:rPr lang="en-US" sz="2000" dirty="0">
                <a:latin typeface="Times New Roman" panose="02020603050405020304" pitchFamily="18" charset="0"/>
                <a:cs typeface="Times New Roman" panose="02020603050405020304" pitchFamily="18" charset="0"/>
              </a:rPr>
              <a:t>The proposed system was successfully implemented and tested using traffic video inputs. The trained YOLO deep learning model was able to accurately detect ambulances in real-time frames with a good confidence level. Bounding boxes were correctly drawn around detected ambulances, and the system displayed the detection output continuously.</a:t>
            </a:r>
          </a:p>
          <a:p>
            <a:pPr algn="just"/>
            <a:r>
              <a:rPr lang="en-US" sz="2000" dirty="0">
                <a:latin typeface="Times New Roman" panose="02020603050405020304" pitchFamily="18" charset="0"/>
                <a:cs typeface="Times New Roman" panose="02020603050405020304" pitchFamily="18" charset="0"/>
              </a:rPr>
              <a:t>When an ambulance was detected, the integrated SMS alert system using the Twilio API was triggered successfully, sending notifications to the registered mobile number. This demonstrates the system’s ability to perform real-time detection and instant communication.</a:t>
            </a:r>
          </a:p>
          <a:p>
            <a:pPr algn="just"/>
            <a:r>
              <a:rPr lang="en-US" sz="2000" dirty="0">
                <a:latin typeface="Times New Roman" panose="02020603050405020304" pitchFamily="18" charset="0"/>
                <a:cs typeface="Times New Roman" panose="02020603050405020304" pitchFamily="18" charset="0"/>
              </a:rPr>
              <a:t>The performance of the model depends on factors such as lighting conditions, camera angle, and quality of the dataset. In well-lit conditions with clear visibility, the system showed high accuracy. However, in cases of heavy traffic congestion, occlusion, or low lighting, the detection accuracy may slightly decrease.</a:t>
            </a:r>
          </a:p>
          <a:p>
            <a:pPr algn="just"/>
            <a:r>
              <a:rPr lang="en-US" sz="2000" dirty="0">
                <a:latin typeface="Times New Roman" panose="02020603050405020304" pitchFamily="18" charset="0"/>
                <a:cs typeface="Times New Roman" panose="02020603050405020304" pitchFamily="18" charset="0"/>
              </a:rPr>
              <a:t>Overall, the system proves to be effective in detecting ambulances and providing timely alerts, making it suitable for applications in smart traffic management and emergency response systems.</a:t>
            </a:r>
          </a:p>
          <a:p>
            <a:endParaRPr lang="en-US" sz="1900" dirty="0">
              <a:latin typeface="Times New Roman" panose="02020603050405020304" pitchFamily="18" charset="0"/>
              <a:cs typeface="Times New Roman" panose="02020603050405020304" pitchFamily="18" charset="0"/>
            </a:endParaRPr>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59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400" b="1" dirty="0">
                <a:latin typeface="Times New Roman" pitchFamily="18" charset="0"/>
                <a:cs typeface="Times New Roman" pitchFamily="18" charset="0"/>
              </a:rPr>
              <a:t>CONCLUSION</a:t>
            </a:r>
            <a:br>
              <a:rPr lang="en-IN" sz="2400" b="1" dirty="0">
                <a:latin typeface="Times New Roman" pitchFamily="18" charset="0"/>
                <a:cs typeface="Times New Roman" pitchFamily="18" charset="0"/>
              </a:rPr>
            </a:br>
            <a:endParaRPr lang="en-US" sz="2400" b="1" dirty="0"/>
          </a:p>
        </p:txBody>
      </p:sp>
      <p:sp>
        <p:nvSpPr>
          <p:cNvPr id="3" name="Content Placeholder 2"/>
          <p:cNvSpPr>
            <a:spLocks noGrp="1"/>
          </p:cNvSpPr>
          <p:nvPr>
            <p:ph idx="1"/>
          </p:nvPr>
        </p:nvSpPr>
        <p:spPr/>
        <p:txBody>
          <a:bodyPr>
            <a:normAutofit/>
          </a:bodyPr>
          <a:lstStyle/>
          <a:p>
            <a:pPr algn="just"/>
            <a:r>
              <a:rPr lang="en-US" sz="1900" dirty="0">
                <a:latin typeface="Times New Roman" panose="02020603050405020304" pitchFamily="18" charset="0"/>
                <a:cs typeface="Times New Roman" panose="02020603050405020304" pitchFamily="18" charset="0"/>
              </a:rPr>
              <a:t>The project successfully demonstrates a real-time ambulance detection system using deep learning and computer vision. The integration of the Twilio API enables automatic SMS alerts, improving emergency response efficiency. The system proves to be effective, scalable, and suitable for smart traffic management applications</a:t>
            </a:r>
          </a:p>
        </p:txBody>
      </p:sp>
      <p:pic>
        <p:nvPicPr>
          <p:cNvPr id="4" name="Picture 2" descr="About Us | Karunya Institute of Technology and Sciences | NAAC A++  Accredited | Best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994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2400" b="1" dirty="0">
                <a:latin typeface="Times New Roman" pitchFamily="18" charset="0"/>
                <a:cs typeface="Times New Roman" pitchFamily="18" charset="0"/>
              </a:rPr>
              <a:t>OUTPUT-SCREENSHOTS</a:t>
            </a:r>
            <a:endParaRPr lang="en-US" sz="2400" b="1" dirty="0"/>
          </a:p>
        </p:txBody>
      </p:sp>
      <p:pic>
        <p:nvPicPr>
          <p:cNvPr id="6" name="Content Placeholder 5">
            <a:extLst>
              <a:ext uri="{FF2B5EF4-FFF2-40B4-BE49-F238E27FC236}">
                <a16:creationId xmlns:a16="http://schemas.microsoft.com/office/drawing/2014/main" id="{FE62D4E5-11EF-5B2B-0BF5-5B1D05BFD275}"/>
              </a:ext>
            </a:extLst>
          </p:cNvPr>
          <p:cNvPicPr>
            <a:picLocks noGrp="1" noChangeAspect="1"/>
          </p:cNvPicPr>
          <p:nvPr>
            <p:ph idx="1"/>
          </p:nvPr>
        </p:nvPicPr>
        <p:blipFill>
          <a:blip r:embed="rId2"/>
          <a:stretch>
            <a:fillRect/>
          </a:stretch>
        </p:blipFill>
        <p:spPr>
          <a:xfrm>
            <a:off x="1295400" y="1351705"/>
            <a:ext cx="4487160" cy="2664745"/>
          </a:xfrm>
          <a:prstGeom prst="rect">
            <a:avLst/>
          </a:prstGeom>
        </p:spPr>
      </p:pic>
      <p:pic>
        <p:nvPicPr>
          <p:cNvPr id="4" name="Picture 2" descr="About Us | Karunya Institute of Technology and Sciences | NAAC A++  Accredited | Best Universit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F035481-E087-BA6E-897D-3F8979A866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041" y="4173922"/>
            <a:ext cx="5172960" cy="2196149"/>
          </a:xfrm>
          <a:prstGeom prst="rect">
            <a:avLst/>
          </a:prstGeom>
        </p:spPr>
      </p:pic>
    </p:spTree>
    <p:extLst>
      <p:ext uri="{BB962C8B-B14F-4D97-AF65-F5344CB8AC3E}">
        <p14:creationId xmlns:p14="http://schemas.microsoft.com/office/powerpoint/2010/main" val="560646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400" b="1" dirty="0">
                <a:latin typeface="Times New Roman" pitchFamily="18" charset="0"/>
                <a:cs typeface="Times New Roman" pitchFamily="18" charset="0"/>
              </a:rPr>
              <a:t>REFERENCES</a:t>
            </a:r>
            <a:br>
              <a:rPr lang="en-IN" sz="2400" b="1" dirty="0">
                <a:latin typeface="Times New Roman" pitchFamily="18" charset="0"/>
                <a:cs typeface="Times New Roman" pitchFamily="18" charset="0"/>
              </a:rPr>
            </a:br>
            <a:endParaRPr lang="en-US" sz="2400" b="1" dirty="0"/>
          </a:p>
        </p:txBody>
      </p:sp>
      <p:sp>
        <p:nvSpPr>
          <p:cNvPr id="3" name="Content Placeholder 2"/>
          <p:cNvSpPr>
            <a:spLocks noGrp="1"/>
          </p:cNvSpPr>
          <p:nvPr>
            <p:ph idx="1"/>
          </p:nvPr>
        </p:nvSpPr>
        <p:spPr/>
        <p:txBody>
          <a:bodyPr>
            <a:normAutofit/>
          </a:bodyPr>
          <a:lstStyle/>
          <a:p>
            <a:r>
              <a:rPr lang="en-IN" sz="1800" dirty="0">
                <a:latin typeface="Times New Roman" panose="02020603050405020304" pitchFamily="18" charset="0"/>
                <a:cs typeface="Times New Roman" panose="02020603050405020304" pitchFamily="18" charset="0"/>
              </a:rPr>
              <a:t>Joseph Redmon et al., “YOLO: You Only Look Once: Unified, Real-Time Object Detection,” </a:t>
            </a:r>
            <a:r>
              <a:rPr lang="en-IN" sz="1800" i="1" dirty="0">
                <a:latin typeface="Times New Roman" panose="02020603050405020304" pitchFamily="18" charset="0"/>
                <a:cs typeface="Times New Roman" panose="02020603050405020304" pitchFamily="18" charset="0"/>
              </a:rPr>
              <a:t>Proceedings of the IEEE Conference on Computer Vision and Pattern Recognition (CVPR), 2016.</a:t>
            </a:r>
            <a:r>
              <a:rPr lang="en-IN" sz="1800" dirty="0">
                <a:latin typeface="Times New Roman" panose="02020603050405020304" pitchFamily="18" charset="0"/>
                <a:cs typeface="Times New Roman" panose="02020603050405020304" pitchFamily="18" charset="0"/>
              </a:rPr>
              <a:t> </a:t>
            </a:r>
          </a:p>
          <a:p>
            <a:r>
              <a:rPr lang="en-IN" sz="1800" dirty="0" err="1">
                <a:latin typeface="Times New Roman" panose="02020603050405020304" pitchFamily="18" charset="0"/>
                <a:cs typeface="Times New Roman" panose="02020603050405020304" pitchFamily="18" charset="0"/>
              </a:rPr>
              <a:t>Ultralytics</a:t>
            </a:r>
            <a:r>
              <a:rPr lang="en-IN" sz="1800" dirty="0">
                <a:latin typeface="Times New Roman" panose="02020603050405020304" pitchFamily="18" charset="0"/>
                <a:cs typeface="Times New Roman" panose="02020603050405020304" pitchFamily="18" charset="0"/>
              </a:rPr>
              <a:t>, “YOLOv8 Documentation,” Available at: </a:t>
            </a:r>
            <a:r>
              <a:rPr lang="en-IN" sz="1800" dirty="0">
                <a:latin typeface="Times New Roman" panose="02020603050405020304" pitchFamily="18" charset="0"/>
                <a:cs typeface="Times New Roman" panose="02020603050405020304" pitchFamily="18" charset="0"/>
                <a:hlinkClick r:id="rId2"/>
              </a:rPr>
              <a:t>https://docs.ultralytics.com/</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OpenCV Documentation, “Open Source Computer Vision Library,” Available at: </a:t>
            </a:r>
            <a:r>
              <a:rPr lang="en-IN" sz="1800" dirty="0">
                <a:latin typeface="Times New Roman" panose="02020603050405020304" pitchFamily="18" charset="0"/>
                <a:cs typeface="Times New Roman" panose="02020603050405020304" pitchFamily="18" charset="0"/>
                <a:hlinkClick r:id="rId3"/>
              </a:rPr>
              <a:t>https://opencv.org/</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Twilio Documentation, “Twilio SMS API,” Available at: </a:t>
            </a:r>
            <a:r>
              <a:rPr lang="en-IN" sz="1800" dirty="0">
                <a:latin typeface="Times New Roman" panose="02020603050405020304" pitchFamily="18" charset="0"/>
                <a:cs typeface="Times New Roman" panose="02020603050405020304" pitchFamily="18" charset="0"/>
                <a:hlinkClick r:id="rId4"/>
              </a:rPr>
              <a:t>https://www.twilio.com/docs/sms</a:t>
            </a:r>
            <a:r>
              <a:rPr lang="en-IN" sz="1800" dirty="0">
                <a:latin typeface="Times New Roman" panose="02020603050405020304" pitchFamily="18" charset="0"/>
                <a:cs typeface="Times New Roman" panose="02020603050405020304" pitchFamily="18" charset="0"/>
              </a:rPr>
              <a:t> </a:t>
            </a:r>
          </a:p>
          <a:p>
            <a:r>
              <a:rPr lang="en-IN" sz="1800" dirty="0" err="1">
                <a:latin typeface="Times New Roman" panose="02020603050405020304" pitchFamily="18" charset="0"/>
                <a:cs typeface="Times New Roman" panose="02020603050405020304" pitchFamily="18" charset="0"/>
              </a:rPr>
              <a:t>Roboflow</a:t>
            </a:r>
            <a:r>
              <a:rPr lang="en-IN" sz="1800" dirty="0">
                <a:latin typeface="Times New Roman" panose="02020603050405020304" pitchFamily="18" charset="0"/>
                <a:cs typeface="Times New Roman" panose="02020603050405020304" pitchFamily="18" charset="0"/>
              </a:rPr>
              <a:t>, “Computer Vision Dataset Management,” Available at: </a:t>
            </a:r>
            <a:r>
              <a:rPr lang="en-IN" sz="1800" dirty="0">
                <a:latin typeface="Times New Roman" panose="02020603050405020304" pitchFamily="18" charset="0"/>
                <a:cs typeface="Times New Roman" panose="02020603050405020304" pitchFamily="18" charset="0"/>
                <a:hlinkClick r:id="rId5"/>
              </a:rPr>
              <a:t>https://roboflow.com/</a:t>
            </a:r>
            <a:r>
              <a:rPr lang="en-IN" sz="1800" dirty="0">
                <a:latin typeface="Times New Roman" panose="02020603050405020304" pitchFamily="18" charset="0"/>
                <a:cs typeface="Times New Roman" panose="02020603050405020304" pitchFamily="18" charset="0"/>
              </a:rPr>
              <a:t> </a:t>
            </a:r>
          </a:p>
          <a:p>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Documentation, “Deep Learning Framework,” Available at: </a:t>
            </a:r>
            <a:r>
              <a:rPr lang="en-IN" sz="1800" dirty="0">
                <a:latin typeface="Times New Roman" panose="02020603050405020304" pitchFamily="18" charset="0"/>
                <a:cs typeface="Times New Roman" panose="02020603050405020304" pitchFamily="18" charset="0"/>
                <a:hlinkClick r:id="rId6"/>
              </a:rPr>
              <a:t>https://pytorch.org/</a:t>
            </a:r>
            <a:r>
              <a:rPr lang="en-IN" sz="1800" dirty="0">
                <a:latin typeface="Times New Roman" panose="02020603050405020304" pitchFamily="18" charset="0"/>
                <a:cs typeface="Times New Roman" panose="02020603050405020304" pitchFamily="18" charset="0"/>
              </a:rPr>
              <a:t> </a:t>
            </a:r>
          </a:p>
          <a:p>
            <a:endParaRPr lang="en-US" sz="1800" dirty="0"/>
          </a:p>
        </p:txBody>
      </p:sp>
      <p:pic>
        <p:nvPicPr>
          <p:cNvPr id="4" name="Picture 2" descr="About Us | Karunya Institute of Technology and Sciences | NAAC A++  Accredited | Best University"/>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96200" y="105471"/>
            <a:ext cx="1352756" cy="1289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115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1335</Words>
  <Application>Microsoft Office PowerPoint</Application>
  <PresentationFormat>On-screen Show (4:3)</PresentationFormat>
  <Paragraphs>83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METHODOLGY</vt:lpstr>
      <vt:lpstr>MODULES DESCRIPTION   </vt:lpstr>
      <vt:lpstr>IMPLEMENTATION</vt:lpstr>
      <vt:lpstr>RESULTS AND DISCUSSION </vt:lpstr>
      <vt:lpstr>CONCLUSION </vt:lpstr>
      <vt:lpstr>OUTPUT-SCREENSHOTS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mershick j</cp:lastModifiedBy>
  <cp:revision>37</cp:revision>
  <dcterms:created xsi:type="dcterms:W3CDTF">2006-08-16T00:00:00Z</dcterms:created>
  <dcterms:modified xsi:type="dcterms:W3CDTF">2026-04-19T15:52:51Z</dcterms:modified>
</cp:coreProperties>
</file>